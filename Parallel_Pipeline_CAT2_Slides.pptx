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C"/>
        </a:solidFill>
      </p:bgPr>
    </p:bg>
    <p:spTree>
      <p:nvGrpSpPr>
        <p:cNvPr id="1" name=""/>
        <p:cNvGrpSpPr/>
        <p:nvPr/>
      </p:nvGrpSpPr>
      <p:grpSpPr>
        <a:xfrm>
          <a:off x="0" y="0"/>
          <a:ext cx="0" cy="0"/>
          <a:chOff x="0" y="0"/>
          <a:chExt cx="0" cy="0"/>
        </a:xfrm>
      </p:grpSpPr>
      <p:sp>
        <p:nvSpPr>
          <p:cNvPr id="2" name="Shape 0"/>
          <p:cNvSpPr/>
          <p:nvPr/>
        </p:nvSpPr>
        <p:spPr>
          <a:xfrm>
            <a:off x="8412480" y="457200"/>
            <a:ext cx="64008" cy="64008"/>
          </a:xfrm>
          <a:prstGeom prst="ellipse">
            <a:avLst/>
          </a:prstGeom>
          <a:solidFill>
            <a:srgbClr val="2596BE">
              <a:alpha val="35000"/>
            </a:srgbClr>
          </a:solidFill>
          <a:ln w="12700">
            <a:solidFill>
              <a:srgbClr val="2596BE"/>
            </a:solidFill>
            <a:prstDash val="solid"/>
          </a:ln>
        </p:spPr>
      </p:sp>
      <p:sp>
        <p:nvSpPr>
          <p:cNvPr id="3" name="Shape 1"/>
          <p:cNvSpPr/>
          <p:nvPr/>
        </p:nvSpPr>
        <p:spPr>
          <a:xfrm>
            <a:off x="8668512" y="457200"/>
            <a:ext cx="64008" cy="64008"/>
          </a:xfrm>
          <a:prstGeom prst="ellipse">
            <a:avLst/>
          </a:prstGeom>
          <a:solidFill>
            <a:srgbClr val="2596BE">
              <a:alpha val="35000"/>
            </a:srgbClr>
          </a:solidFill>
          <a:ln w="12700">
            <a:solidFill>
              <a:srgbClr val="2596BE"/>
            </a:solidFill>
            <a:prstDash val="solid"/>
          </a:ln>
        </p:spPr>
      </p:sp>
      <p:sp>
        <p:nvSpPr>
          <p:cNvPr id="4" name="Shape 2"/>
          <p:cNvSpPr/>
          <p:nvPr/>
        </p:nvSpPr>
        <p:spPr>
          <a:xfrm>
            <a:off x="8924544" y="457200"/>
            <a:ext cx="64008" cy="64008"/>
          </a:xfrm>
          <a:prstGeom prst="ellipse">
            <a:avLst/>
          </a:prstGeom>
          <a:solidFill>
            <a:srgbClr val="2596BE">
              <a:alpha val="35000"/>
            </a:srgbClr>
          </a:solidFill>
          <a:ln w="12700">
            <a:solidFill>
              <a:srgbClr val="2596BE"/>
            </a:solidFill>
            <a:prstDash val="solid"/>
          </a:ln>
        </p:spPr>
      </p:sp>
      <p:sp>
        <p:nvSpPr>
          <p:cNvPr id="5" name="Shape 3"/>
          <p:cNvSpPr/>
          <p:nvPr/>
        </p:nvSpPr>
        <p:spPr>
          <a:xfrm>
            <a:off x="9180576" y="457200"/>
            <a:ext cx="64008" cy="64008"/>
          </a:xfrm>
          <a:prstGeom prst="ellipse">
            <a:avLst/>
          </a:prstGeom>
          <a:solidFill>
            <a:srgbClr val="2596BE">
              <a:alpha val="35000"/>
            </a:srgbClr>
          </a:solidFill>
          <a:ln w="12700">
            <a:solidFill>
              <a:srgbClr val="2596BE"/>
            </a:solidFill>
            <a:prstDash val="solid"/>
          </a:ln>
        </p:spPr>
      </p:sp>
      <p:sp>
        <p:nvSpPr>
          <p:cNvPr id="6" name="Shape 4"/>
          <p:cNvSpPr/>
          <p:nvPr/>
        </p:nvSpPr>
        <p:spPr>
          <a:xfrm>
            <a:off x="9436608" y="457200"/>
            <a:ext cx="64008" cy="64008"/>
          </a:xfrm>
          <a:prstGeom prst="ellipse">
            <a:avLst/>
          </a:prstGeom>
          <a:solidFill>
            <a:srgbClr val="2596BE">
              <a:alpha val="35000"/>
            </a:srgbClr>
          </a:solidFill>
          <a:ln w="12700">
            <a:solidFill>
              <a:srgbClr val="2596BE"/>
            </a:solidFill>
            <a:prstDash val="solid"/>
          </a:ln>
        </p:spPr>
      </p:sp>
      <p:sp>
        <p:nvSpPr>
          <p:cNvPr id="7" name="Shape 5"/>
          <p:cNvSpPr/>
          <p:nvPr/>
        </p:nvSpPr>
        <p:spPr>
          <a:xfrm>
            <a:off x="9692640" y="457200"/>
            <a:ext cx="64008" cy="64008"/>
          </a:xfrm>
          <a:prstGeom prst="ellipse">
            <a:avLst/>
          </a:prstGeom>
          <a:solidFill>
            <a:srgbClr val="2596BE">
              <a:alpha val="35000"/>
            </a:srgbClr>
          </a:solidFill>
          <a:ln w="12700">
            <a:solidFill>
              <a:srgbClr val="2596BE"/>
            </a:solidFill>
            <a:prstDash val="solid"/>
          </a:ln>
        </p:spPr>
      </p:sp>
      <p:sp>
        <p:nvSpPr>
          <p:cNvPr id="8" name="Shape 6"/>
          <p:cNvSpPr/>
          <p:nvPr/>
        </p:nvSpPr>
        <p:spPr>
          <a:xfrm>
            <a:off x="9948672" y="457200"/>
            <a:ext cx="64008" cy="64008"/>
          </a:xfrm>
          <a:prstGeom prst="ellipse">
            <a:avLst/>
          </a:prstGeom>
          <a:solidFill>
            <a:srgbClr val="2596BE">
              <a:alpha val="35000"/>
            </a:srgbClr>
          </a:solidFill>
          <a:ln w="12700">
            <a:solidFill>
              <a:srgbClr val="2596BE"/>
            </a:solidFill>
            <a:prstDash val="solid"/>
          </a:ln>
        </p:spPr>
      </p:sp>
      <p:sp>
        <p:nvSpPr>
          <p:cNvPr id="9" name="Shape 7"/>
          <p:cNvSpPr/>
          <p:nvPr/>
        </p:nvSpPr>
        <p:spPr>
          <a:xfrm>
            <a:off x="10204704" y="457200"/>
            <a:ext cx="64008" cy="64008"/>
          </a:xfrm>
          <a:prstGeom prst="ellipse">
            <a:avLst/>
          </a:prstGeom>
          <a:solidFill>
            <a:srgbClr val="2596BE">
              <a:alpha val="35000"/>
            </a:srgbClr>
          </a:solidFill>
          <a:ln w="12700">
            <a:solidFill>
              <a:srgbClr val="2596BE"/>
            </a:solidFill>
            <a:prstDash val="solid"/>
          </a:ln>
        </p:spPr>
      </p:sp>
      <p:sp>
        <p:nvSpPr>
          <p:cNvPr id="10" name="Shape 8"/>
          <p:cNvSpPr/>
          <p:nvPr/>
        </p:nvSpPr>
        <p:spPr>
          <a:xfrm>
            <a:off x="10460736" y="457200"/>
            <a:ext cx="64008" cy="64008"/>
          </a:xfrm>
          <a:prstGeom prst="ellipse">
            <a:avLst/>
          </a:prstGeom>
          <a:solidFill>
            <a:srgbClr val="2596BE">
              <a:alpha val="35000"/>
            </a:srgbClr>
          </a:solidFill>
          <a:ln w="12700">
            <a:solidFill>
              <a:srgbClr val="2596BE"/>
            </a:solidFill>
            <a:prstDash val="solid"/>
          </a:ln>
        </p:spPr>
      </p:sp>
      <p:sp>
        <p:nvSpPr>
          <p:cNvPr id="11" name="Shape 9"/>
          <p:cNvSpPr/>
          <p:nvPr/>
        </p:nvSpPr>
        <p:spPr>
          <a:xfrm>
            <a:off x="10716768" y="457200"/>
            <a:ext cx="64008" cy="64008"/>
          </a:xfrm>
          <a:prstGeom prst="ellipse">
            <a:avLst/>
          </a:prstGeom>
          <a:solidFill>
            <a:srgbClr val="2596BE">
              <a:alpha val="35000"/>
            </a:srgbClr>
          </a:solidFill>
          <a:ln w="12700">
            <a:solidFill>
              <a:srgbClr val="2596BE"/>
            </a:solidFill>
            <a:prstDash val="solid"/>
          </a:ln>
        </p:spPr>
      </p:sp>
      <p:sp>
        <p:nvSpPr>
          <p:cNvPr id="12" name="Shape 10"/>
          <p:cNvSpPr/>
          <p:nvPr/>
        </p:nvSpPr>
        <p:spPr>
          <a:xfrm>
            <a:off x="10972800" y="457200"/>
            <a:ext cx="64008" cy="64008"/>
          </a:xfrm>
          <a:prstGeom prst="ellipse">
            <a:avLst/>
          </a:prstGeom>
          <a:solidFill>
            <a:srgbClr val="2596BE">
              <a:alpha val="35000"/>
            </a:srgbClr>
          </a:solidFill>
          <a:ln w="12700">
            <a:solidFill>
              <a:srgbClr val="2596BE"/>
            </a:solidFill>
            <a:prstDash val="solid"/>
          </a:ln>
        </p:spPr>
      </p:sp>
      <p:sp>
        <p:nvSpPr>
          <p:cNvPr id="13" name="Shape 11"/>
          <p:cNvSpPr/>
          <p:nvPr/>
        </p:nvSpPr>
        <p:spPr>
          <a:xfrm>
            <a:off x="11228832" y="457200"/>
            <a:ext cx="64008" cy="64008"/>
          </a:xfrm>
          <a:prstGeom prst="ellipse">
            <a:avLst/>
          </a:prstGeom>
          <a:solidFill>
            <a:srgbClr val="2596BE">
              <a:alpha val="35000"/>
            </a:srgbClr>
          </a:solidFill>
          <a:ln w="12700">
            <a:solidFill>
              <a:srgbClr val="2596BE"/>
            </a:solidFill>
            <a:prstDash val="solid"/>
          </a:ln>
        </p:spPr>
      </p:sp>
      <p:sp>
        <p:nvSpPr>
          <p:cNvPr id="14" name="Shape 12"/>
          <p:cNvSpPr/>
          <p:nvPr/>
        </p:nvSpPr>
        <p:spPr>
          <a:xfrm>
            <a:off x="11484864" y="457200"/>
            <a:ext cx="64008" cy="64008"/>
          </a:xfrm>
          <a:prstGeom prst="ellipse">
            <a:avLst/>
          </a:prstGeom>
          <a:solidFill>
            <a:srgbClr val="2596BE">
              <a:alpha val="35000"/>
            </a:srgbClr>
          </a:solidFill>
          <a:ln w="12700">
            <a:solidFill>
              <a:srgbClr val="2596BE"/>
            </a:solidFill>
            <a:prstDash val="solid"/>
          </a:ln>
        </p:spPr>
      </p:sp>
      <p:sp>
        <p:nvSpPr>
          <p:cNvPr id="15" name="Shape 13"/>
          <p:cNvSpPr/>
          <p:nvPr/>
        </p:nvSpPr>
        <p:spPr>
          <a:xfrm>
            <a:off x="11740896" y="457200"/>
            <a:ext cx="64008" cy="64008"/>
          </a:xfrm>
          <a:prstGeom prst="ellipse">
            <a:avLst/>
          </a:prstGeom>
          <a:solidFill>
            <a:srgbClr val="2596BE">
              <a:alpha val="35000"/>
            </a:srgbClr>
          </a:solidFill>
          <a:ln w="12700">
            <a:solidFill>
              <a:srgbClr val="2596BE"/>
            </a:solidFill>
            <a:prstDash val="solid"/>
          </a:ln>
        </p:spPr>
      </p:sp>
      <p:sp>
        <p:nvSpPr>
          <p:cNvPr id="16" name="Shape 14"/>
          <p:cNvSpPr/>
          <p:nvPr/>
        </p:nvSpPr>
        <p:spPr>
          <a:xfrm>
            <a:off x="8412480" y="713232"/>
            <a:ext cx="64008" cy="64008"/>
          </a:xfrm>
          <a:prstGeom prst="ellipse">
            <a:avLst/>
          </a:prstGeom>
          <a:solidFill>
            <a:srgbClr val="2596BE">
              <a:alpha val="35000"/>
            </a:srgbClr>
          </a:solidFill>
          <a:ln w="12700">
            <a:solidFill>
              <a:srgbClr val="2596BE"/>
            </a:solidFill>
            <a:prstDash val="solid"/>
          </a:ln>
        </p:spPr>
      </p:sp>
      <p:sp>
        <p:nvSpPr>
          <p:cNvPr id="17" name="Shape 15"/>
          <p:cNvSpPr/>
          <p:nvPr/>
        </p:nvSpPr>
        <p:spPr>
          <a:xfrm>
            <a:off x="8668512" y="713232"/>
            <a:ext cx="64008" cy="64008"/>
          </a:xfrm>
          <a:prstGeom prst="ellipse">
            <a:avLst/>
          </a:prstGeom>
          <a:solidFill>
            <a:srgbClr val="2596BE">
              <a:alpha val="35000"/>
            </a:srgbClr>
          </a:solidFill>
          <a:ln w="12700">
            <a:solidFill>
              <a:srgbClr val="2596BE"/>
            </a:solidFill>
            <a:prstDash val="solid"/>
          </a:ln>
        </p:spPr>
      </p:sp>
      <p:sp>
        <p:nvSpPr>
          <p:cNvPr id="18" name="Shape 16"/>
          <p:cNvSpPr/>
          <p:nvPr/>
        </p:nvSpPr>
        <p:spPr>
          <a:xfrm>
            <a:off x="8924544" y="713232"/>
            <a:ext cx="64008" cy="64008"/>
          </a:xfrm>
          <a:prstGeom prst="ellipse">
            <a:avLst/>
          </a:prstGeom>
          <a:solidFill>
            <a:srgbClr val="2596BE">
              <a:alpha val="35000"/>
            </a:srgbClr>
          </a:solidFill>
          <a:ln w="12700">
            <a:solidFill>
              <a:srgbClr val="2596BE"/>
            </a:solidFill>
            <a:prstDash val="solid"/>
          </a:ln>
        </p:spPr>
      </p:sp>
      <p:sp>
        <p:nvSpPr>
          <p:cNvPr id="19" name="Shape 17"/>
          <p:cNvSpPr/>
          <p:nvPr/>
        </p:nvSpPr>
        <p:spPr>
          <a:xfrm>
            <a:off x="9180576" y="713232"/>
            <a:ext cx="64008" cy="64008"/>
          </a:xfrm>
          <a:prstGeom prst="ellipse">
            <a:avLst/>
          </a:prstGeom>
          <a:solidFill>
            <a:srgbClr val="2596BE">
              <a:alpha val="35000"/>
            </a:srgbClr>
          </a:solidFill>
          <a:ln w="12700">
            <a:solidFill>
              <a:srgbClr val="2596BE"/>
            </a:solidFill>
            <a:prstDash val="solid"/>
          </a:ln>
        </p:spPr>
      </p:sp>
      <p:sp>
        <p:nvSpPr>
          <p:cNvPr id="20" name="Shape 18"/>
          <p:cNvSpPr/>
          <p:nvPr/>
        </p:nvSpPr>
        <p:spPr>
          <a:xfrm>
            <a:off x="9436608" y="713232"/>
            <a:ext cx="64008" cy="64008"/>
          </a:xfrm>
          <a:prstGeom prst="ellipse">
            <a:avLst/>
          </a:prstGeom>
          <a:solidFill>
            <a:srgbClr val="2596BE">
              <a:alpha val="35000"/>
            </a:srgbClr>
          </a:solidFill>
          <a:ln w="12700">
            <a:solidFill>
              <a:srgbClr val="2596BE"/>
            </a:solidFill>
            <a:prstDash val="solid"/>
          </a:ln>
        </p:spPr>
      </p:sp>
      <p:sp>
        <p:nvSpPr>
          <p:cNvPr id="21" name="Shape 19"/>
          <p:cNvSpPr/>
          <p:nvPr/>
        </p:nvSpPr>
        <p:spPr>
          <a:xfrm>
            <a:off x="9692640" y="713232"/>
            <a:ext cx="64008" cy="64008"/>
          </a:xfrm>
          <a:prstGeom prst="ellipse">
            <a:avLst/>
          </a:prstGeom>
          <a:solidFill>
            <a:srgbClr val="2596BE">
              <a:alpha val="35000"/>
            </a:srgbClr>
          </a:solidFill>
          <a:ln w="12700">
            <a:solidFill>
              <a:srgbClr val="2596BE"/>
            </a:solidFill>
            <a:prstDash val="solid"/>
          </a:ln>
        </p:spPr>
      </p:sp>
      <p:sp>
        <p:nvSpPr>
          <p:cNvPr id="22" name="Shape 20"/>
          <p:cNvSpPr/>
          <p:nvPr/>
        </p:nvSpPr>
        <p:spPr>
          <a:xfrm>
            <a:off x="9948672" y="713232"/>
            <a:ext cx="64008" cy="64008"/>
          </a:xfrm>
          <a:prstGeom prst="ellipse">
            <a:avLst/>
          </a:prstGeom>
          <a:solidFill>
            <a:srgbClr val="2596BE">
              <a:alpha val="35000"/>
            </a:srgbClr>
          </a:solidFill>
          <a:ln w="12700">
            <a:solidFill>
              <a:srgbClr val="2596BE"/>
            </a:solidFill>
            <a:prstDash val="solid"/>
          </a:ln>
        </p:spPr>
      </p:sp>
      <p:sp>
        <p:nvSpPr>
          <p:cNvPr id="23" name="Shape 21"/>
          <p:cNvSpPr/>
          <p:nvPr/>
        </p:nvSpPr>
        <p:spPr>
          <a:xfrm>
            <a:off x="10204704" y="713232"/>
            <a:ext cx="64008" cy="64008"/>
          </a:xfrm>
          <a:prstGeom prst="ellipse">
            <a:avLst/>
          </a:prstGeom>
          <a:solidFill>
            <a:srgbClr val="2596BE">
              <a:alpha val="35000"/>
            </a:srgbClr>
          </a:solidFill>
          <a:ln w="12700">
            <a:solidFill>
              <a:srgbClr val="2596BE"/>
            </a:solidFill>
            <a:prstDash val="solid"/>
          </a:ln>
        </p:spPr>
      </p:sp>
      <p:sp>
        <p:nvSpPr>
          <p:cNvPr id="24" name="Shape 22"/>
          <p:cNvSpPr/>
          <p:nvPr/>
        </p:nvSpPr>
        <p:spPr>
          <a:xfrm>
            <a:off x="10460736" y="713232"/>
            <a:ext cx="64008" cy="64008"/>
          </a:xfrm>
          <a:prstGeom prst="ellipse">
            <a:avLst/>
          </a:prstGeom>
          <a:solidFill>
            <a:srgbClr val="2596BE">
              <a:alpha val="35000"/>
            </a:srgbClr>
          </a:solidFill>
          <a:ln w="12700">
            <a:solidFill>
              <a:srgbClr val="2596BE"/>
            </a:solidFill>
            <a:prstDash val="solid"/>
          </a:ln>
        </p:spPr>
      </p:sp>
      <p:sp>
        <p:nvSpPr>
          <p:cNvPr id="25" name="Shape 23"/>
          <p:cNvSpPr/>
          <p:nvPr/>
        </p:nvSpPr>
        <p:spPr>
          <a:xfrm>
            <a:off x="10716768" y="713232"/>
            <a:ext cx="64008" cy="64008"/>
          </a:xfrm>
          <a:prstGeom prst="ellipse">
            <a:avLst/>
          </a:prstGeom>
          <a:solidFill>
            <a:srgbClr val="2596BE">
              <a:alpha val="35000"/>
            </a:srgbClr>
          </a:solidFill>
          <a:ln w="12700">
            <a:solidFill>
              <a:srgbClr val="2596BE"/>
            </a:solidFill>
            <a:prstDash val="solid"/>
          </a:ln>
        </p:spPr>
      </p:sp>
      <p:sp>
        <p:nvSpPr>
          <p:cNvPr id="26" name="Shape 24"/>
          <p:cNvSpPr/>
          <p:nvPr/>
        </p:nvSpPr>
        <p:spPr>
          <a:xfrm>
            <a:off x="10972800" y="713232"/>
            <a:ext cx="64008" cy="64008"/>
          </a:xfrm>
          <a:prstGeom prst="ellipse">
            <a:avLst/>
          </a:prstGeom>
          <a:solidFill>
            <a:srgbClr val="2596BE">
              <a:alpha val="35000"/>
            </a:srgbClr>
          </a:solidFill>
          <a:ln w="12700">
            <a:solidFill>
              <a:srgbClr val="2596BE"/>
            </a:solidFill>
            <a:prstDash val="solid"/>
          </a:ln>
        </p:spPr>
      </p:sp>
      <p:sp>
        <p:nvSpPr>
          <p:cNvPr id="27" name="Shape 25"/>
          <p:cNvSpPr/>
          <p:nvPr/>
        </p:nvSpPr>
        <p:spPr>
          <a:xfrm>
            <a:off x="11228832" y="713232"/>
            <a:ext cx="64008" cy="64008"/>
          </a:xfrm>
          <a:prstGeom prst="ellipse">
            <a:avLst/>
          </a:prstGeom>
          <a:solidFill>
            <a:srgbClr val="2596BE">
              <a:alpha val="35000"/>
            </a:srgbClr>
          </a:solidFill>
          <a:ln w="12700">
            <a:solidFill>
              <a:srgbClr val="2596BE"/>
            </a:solidFill>
            <a:prstDash val="solid"/>
          </a:ln>
        </p:spPr>
      </p:sp>
      <p:sp>
        <p:nvSpPr>
          <p:cNvPr id="28" name="Shape 26"/>
          <p:cNvSpPr/>
          <p:nvPr/>
        </p:nvSpPr>
        <p:spPr>
          <a:xfrm>
            <a:off x="11484864" y="713232"/>
            <a:ext cx="64008" cy="64008"/>
          </a:xfrm>
          <a:prstGeom prst="ellipse">
            <a:avLst/>
          </a:prstGeom>
          <a:solidFill>
            <a:srgbClr val="2596BE">
              <a:alpha val="35000"/>
            </a:srgbClr>
          </a:solidFill>
          <a:ln w="12700">
            <a:solidFill>
              <a:srgbClr val="2596BE"/>
            </a:solidFill>
            <a:prstDash val="solid"/>
          </a:ln>
        </p:spPr>
      </p:sp>
      <p:sp>
        <p:nvSpPr>
          <p:cNvPr id="29" name="Shape 27"/>
          <p:cNvSpPr/>
          <p:nvPr/>
        </p:nvSpPr>
        <p:spPr>
          <a:xfrm>
            <a:off x="11740896" y="713232"/>
            <a:ext cx="64008" cy="64008"/>
          </a:xfrm>
          <a:prstGeom prst="ellipse">
            <a:avLst/>
          </a:prstGeom>
          <a:solidFill>
            <a:srgbClr val="2596BE">
              <a:alpha val="35000"/>
            </a:srgbClr>
          </a:solidFill>
          <a:ln w="12700">
            <a:solidFill>
              <a:srgbClr val="2596BE"/>
            </a:solidFill>
            <a:prstDash val="solid"/>
          </a:ln>
        </p:spPr>
      </p:sp>
      <p:sp>
        <p:nvSpPr>
          <p:cNvPr id="30" name="Shape 28"/>
          <p:cNvSpPr/>
          <p:nvPr/>
        </p:nvSpPr>
        <p:spPr>
          <a:xfrm>
            <a:off x="8412480" y="969264"/>
            <a:ext cx="64008" cy="64008"/>
          </a:xfrm>
          <a:prstGeom prst="ellipse">
            <a:avLst/>
          </a:prstGeom>
          <a:solidFill>
            <a:srgbClr val="2596BE">
              <a:alpha val="35000"/>
            </a:srgbClr>
          </a:solidFill>
          <a:ln w="12700">
            <a:solidFill>
              <a:srgbClr val="2596BE"/>
            </a:solidFill>
            <a:prstDash val="solid"/>
          </a:ln>
        </p:spPr>
      </p:sp>
      <p:sp>
        <p:nvSpPr>
          <p:cNvPr id="31" name="Shape 29"/>
          <p:cNvSpPr/>
          <p:nvPr/>
        </p:nvSpPr>
        <p:spPr>
          <a:xfrm>
            <a:off x="8668512" y="969264"/>
            <a:ext cx="64008" cy="64008"/>
          </a:xfrm>
          <a:prstGeom prst="ellipse">
            <a:avLst/>
          </a:prstGeom>
          <a:solidFill>
            <a:srgbClr val="2596BE">
              <a:alpha val="35000"/>
            </a:srgbClr>
          </a:solidFill>
          <a:ln w="12700">
            <a:solidFill>
              <a:srgbClr val="2596BE"/>
            </a:solidFill>
            <a:prstDash val="solid"/>
          </a:ln>
        </p:spPr>
      </p:sp>
      <p:sp>
        <p:nvSpPr>
          <p:cNvPr id="32" name="Shape 30"/>
          <p:cNvSpPr/>
          <p:nvPr/>
        </p:nvSpPr>
        <p:spPr>
          <a:xfrm>
            <a:off x="8924544" y="969264"/>
            <a:ext cx="64008" cy="64008"/>
          </a:xfrm>
          <a:prstGeom prst="ellipse">
            <a:avLst/>
          </a:prstGeom>
          <a:solidFill>
            <a:srgbClr val="2596BE">
              <a:alpha val="35000"/>
            </a:srgbClr>
          </a:solidFill>
          <a:ln w="12700">
            <a:solidFill>
              <a:srgbClr val="2596BE"/>
            </a:solidFill>
            <a:prstDash val="solid"/>
          </a:ln>
        </p:spPr>
      </p:sp>
      <p:sp>
        <p:nvSpPr>
          <p:cNvPr id="33" name="Shape 31"/>
          <p:cNvSpPr/>
          <p:nvPr/>
        </p:nvSpPr>
        <p:spPr>
          <a:xfrm>
            <a:off x="9180576" y="969264"/>
            <a:ext cx="64008" cy="64008"/>
          </a:xfrm>
          <a:prstGeom prst="ellipse">
            <a:avLst/>
          </a:prstGeom>
          <a:solidFill>
            <a:srgbClr val="2596BE">
              <a:alpha val="35000"/>
            </a:srgbClr>
          </a:solidFill>
          <a:ln w="12700">
            <a:solidFill>
              <a:srgbClr val="2596BE"/>
            </a:solidFill>
            <a:prstDash val="solid"/>
          </a:ln>
        </p:spPr>
      </p:sp>
      <p:sp>
        <p:nvSpPr>
          <p:cNvPr id="34" name="Shape 32"/>
          <p:cNvSpPr/>
          <p:nvPr/>
        </p:nvSpPr>
        <p:spPr>
          <a:xfrm>
            <a:off x="9436608" y="969264"/>
            <a:ext cx="64008" cy="64008"/>
          </a:xfrm>
          <a:prstGeom prst="ellipse">
            <a:avLst/>
          </a:prstGeom>
          <a:solidFill>
            <a:srgbClr val="2596BE">
              <a:alpha val="35000"/>
            </a:srgbClr>
          </a:solidFill>
          <a:ln w="12700">
            <a:solidFill>
              <a:srgbClr val="2596BE"/>
            </a:solidFill>
            <a:prstDash val="solid"/>
          </a:ln>
        </p:spPr>
      </p:sp>
      <p:sp>
        <p:nvSpPr>
          <p:cNvPr id="35" name="Shape 33"/>
          <p:cNvSpPr/>
          <p:nvPr/>
        </p:nvSpPr>
        <p:spPr>
          <a:xfrm>
            <a:off x="9692640" y="969264"/>
            <a:ext cx="64008" cy="64008"/>
          </a:xfrm>
          <a:prstGeom prst="ellipse">
            <a:avLst/>
          </a:prstGeom>
          <a:solidFill>
            <a:srgbClr val="2596BE">
              <a:alpha val="35000"/>
            </a:srgbClr>
          </a:solidFill>
          <a:ln w="12700">
            <a:solidFill>
              <a:srgbClr val="2596BE"/>
            </a:solidFill>
            <a:prstDash val="solid"/>
          </a:ln>
        </p:spPr>
      </p:sp>
      <p:sp>
        <p:nvSpPr>
          <p:cNvPr id="36" name="Shape 34"/>
          <p:cNvSpPr/>
          <p:nvPr/>
        </p:nvSpPr>
        <p:spPr>
          <a:xfrm>
            <a:off x="9948672" y="969264"/>
            <a:ext cx="64008" cy="64008"/>
          </a:xfrm>
          <a:prstGeom prst="ellipse">
            <a:avLst/>
          </a:prstGeom>
          <a:solidFill>
            <a:srgbClr val="2596BE">
              <a:alpha val="35000"/>
            </a:srgbClr>
          </a:solidFill>
          <a:ln w="12700">
            <a:solidFill>
              <a:srgbClr val="2596BE"/>
            </a:solidFill>
            <a:prstDash val="solid"/>
          </a:ln>
        </p:spPr>
      </p:sp>
      <p:sp>
        <p:nvSpPr>
          <p:cNvPr id="37" name="Shape 35"/>
          <p:cNvSpPr/>
          <p:nvPr/>
        </p:nvSpPr>
        <p:spPr>
          <a:xfrm>
            <a:off x="10204704" y="969264"/>
            <a:ext cx="64008" cy="64008"/>
          </a:xfrm>
          <a:prstGeom prst="ellipse">
            <a:avLst/>
          </a:prstGeom>
          <a:solidFill>
            <a:srgbClr val="2596BE">
              <a:alpha val="35000"/>
            </a:srgbClr>
          </a:solidFill>
          <a:ln w="12700">
            <a:solidFill>
              <a:srgbClr val="2596BE"/>
            </a:solidFill>
            <a:prstDash val="solid"/>
          </a:ln>
        </p:spPr>
      </p:sp>
      <p:sp>
        <p:nvSpPr>
          <p:cNvPr id="38" name="Shape 36"/>
          <p:cNvSpPr/>
          <p:nvPr/>
        </p:nvSpPr>
        <p:spPr>
          <a:xfrm>
            <a:off x="10460736" y="969264"/>
            <a:ext cx="64008" cy="64008"/>
          </a:xfrm>
          <a:prstGeom prst="ellipse">
            <a:avLst/>
          </a:prstGeom>
          <a:solidFill>
            <a:srgbClr val="2596BE">
              <a:alpha val="35000"/>
            </a:srgbClr>
          </a:solidFill>
          <a:ln w="12700">
            <a:solidFill>
              <a:srgbClr val="2596BE"/>
            </a:solidFill>
            <a:prstDash val="solid"/>
          </a:ln>
        </p:spPr>
      </p:sp>
      <p:sp>
        <p:nvSpPr>
          <p:cNvPr id="39" name="Shape 37"/>
          <p:cNvSpPr/>
          <p:nvPr/>
        </p:nvSpPr>
        <p:spPr>
          <a:xfrm>
            <a:off x="10716768" y="969264"/>
            <a:ext cx="64008" cy="64008"/>
          </a:xfrm>
          <a:prstGeom prst="ellipse">
            <a:avLst/>
          </a:prstGeom>
          <a:solidFill>
            <a:srgbClr val="2596BE">
              <a:alpha val="35000"/>
            </a:srgbClr>
          </a:solidFill>
          <a:ln w="12700">
            <a:solidFill>
              <a:srgbClr val="2596BE"/>
            </a:solidFill>
            <a:prstDash val="solid"/>
          </a:ln>
        </p:spPr>
      </p:sp>
      <p:sp>
        <p:nvSpPr>
          <p:cNvPr id="40" name="Shape 38"/>
          <p:cNvSpPr/>
          <p:nvPr/>
        </p:nvSpPr>
        <p:spPr>
          <a:xfrm>
            <a:off x="10972800" y="969264"/>
            <a:ext cx="64008" cy="64008"/>
          </a:xfrm>
          <a:prstGeom prst="ellipse">
            <a:avLst/>
          </a:prstGeom>
          <a:solidFill>
            <a:srgbClr val="2596BE">
              <a:alpha val="35000"/>
            </a:srgbClr>
          </a:solidFill>
          <a:ln w="12700">
            <a:solidFill>
              <a:srgbClr val="2596BE"/>
            </a:solidFill>
            <a:prstDash val="solid"/>
          </a:ln>
        </p:spPr>
      </p:sp>
      <p:sp>
        <p:nvSpPr>
          <p:cNvPr id="41" name="Shape 39"/>
          <p:cNvSpPr/>
          <p:nvPr/>
        </p:nvSpPr>
        <p:spPr>
          <a:xfrm>
            <a:off x="11228832" y="969264"/>
            <a:ext cx="64008" cy="64008"/>
          </a:xfrm>
          <a:prstGeom prst="ellipse">
            <a:avLst/>
          </a:prstGeom>
          <a:solidFill>
            <a:srgbClr val="2596BE">
              <a:alpha val="35000"/>
            </a:srgbClr>
          </a:solidFill>
          <a:ln w="12700">
            <a:solidFill>
              <a:srgbClr val="2596BE"/>
            </a:solidFill>
            <a:prstDash val="solid"/>
          </a:ln>
        </p:spPr>
      </p:sp>
      <p:sp>
        <p:nvSpPr>
          <p:cNvPr id="42" name="Shape 40"/>
          <p:cNvSpPr/>
          <p:nvPr/>
        </p:nvSpPr>
        <p:spPr>
          <a:xfrm>
            <a:off x="11484864" y="969264"/>
            <a:ext cx="64008" cy="64008"/>
          </a:xfrm>
          <a:prstGeom prst="ellipse">
            <a:avLst/>
          </a:prstGeom>
          <a:solidFill>
            <a:srgbClr val="2596BE">
              <a:alpha val="35000"/>
            </a:srgbClr>
          </a:solidFill>
          <a:ln w="12700">
            <a:solidFill>
              <a:srgbClr val="2596BE"/>
            </a:solidFill>
            <a:prstDash val="solid"/>
          </a:ln>
        </p:spPr>
      </p:sp>
      <p:sp>
        <p:nvSpPr>
          <p:cNvPr id="43" name="Shape 41"/>
          <p:cNvSpPr/>
          <p:nvPr/>
        </p:nvSpPr>
        <p:spPr>
          <a:xfrm>
            <a:off x="11740896" y="969264"/>
            <a:ext cx="64008" cy="64008"/>
          </a:xfrm>
          <a:prstGeom prst="ellipse">
            <a:avLst/>
          </a:prstGeom>
          <a:solidFill>
            <a:srgbClr val="2596BE">
              <a:alpha val="35000"/>
            </a:srgbClr>
          </a:solidFill>
          <a:ln w="12700">
            <a:solidFill>
              <a:srgbClr val="2596BE"/>
            </a:solidFill>
            <a:prstDash val="solid"/>
          </a:ln>
        </p:spPr>
      </p:sp>
      <p:sp>
        <p:nvSpPr>
          <p:cNvPr id="44" name="Shape 42"/>
          <p:cNvSpPr/>
          <p:nvPr/>
        </p:nvSpPr>
        <p:spPr>
          <a:xfrm>
            <a:off x="8412480" y="1225296"/>
            <a:ext cx="64008" cy="64008"/>
          </a:xfrm>
          <a:prstGeom prst="ellipse">
            <a:avLst/>
          </a:prstGeom>
          <a:solidFill>
            <a:srgbClr val="2596BE">
              <a:alpha val="35000"/>
            </a:srgbClr>
          </a:solidFill>
          <a:ln w="12700">
            <a:solidFill>
              <a:srgbClr val="2596BE"/>
            </a:solidFill>
            <a:prstDash val="solid"/>
          </a:ln>
        </p:spPr>
      </p:sp>
      <p:sp>
        <p:nvSpPr>
          <p:cNvPr id="45" name="Shape 43"/>
          <p:cNvSpPr/>
          <p:nvPr/>
        </p:nvSpPr>
        <p:spPr>
          <a:xfrm>
            <a:off x="8668512" y="1225296"/>
            <a:ext cx="64008" cy="64008"/>
          </a:xfrm>
          <a:prstGeom prst="ellipse">
            <a:avLst/>
          </a:prstGeom>
          <a:solidFill>
            <a:srgbClr val="2596BE">
              <a:alpha val="35000"/>
            </a:srgbClr>
          </a:solidFill>
          <a:ln w="12700">
            <a:solidFill>
              <a:srgbClr val="2596BE"/>
            </a:solidFill>
            <a:prstDash val="solid"/>
          </a:ln>
        </p:spPr>
      </p:sp>
      <p:sp>
        <p:nvSpPr>
          <p:cNvPr id="46" name="Shape 44"/>
          <p:cNvSpPr/>
          <p:nvPr/>
        </p:nvSpPr>
        <p:spPr>
          <a:xfrm>
            <a:off x="8924544" y="1225296"/>
            <a:ext cx="64008" cy="64008"/>
          </a:xfrm>
          <a:prstGeom prst="ellipse">
            <a:avLst/>
          </a:prstGeom>
          <a:solidFill>
            <a:srgbClr val="2596BE">
              <a:alpha val="35000"/>
            </a:srgbClr>
          </a:solidFill>
          <a:ln w="12700">
            <a:solidFill>
              <a:srgbClr val="2596BE"/>
            </a:solidFill>
            <a:prstDash val="solid"/>
          </a:ln>
        </p:spPr>
      </p:sp>
      <p:sp>
        <p:nvSpPr>
          <p:cNvPr id="47" name="Shape 45"/>
          <p:cNvSpPr/>
          <p:nvPr/>
        </p:nvSpPr>
        <p:spPr>
          <a:xfrm>
            <a:off x="9180576" y="1225296"/>
            <a:ext cx="64008" cy="64008"/>
          </a:xfrm>
          <a:prstGeom prst="ellipse">
            <a:avLst/>
          </a:prstGeom>
          <a:solidFill>
            <a:srgbClr val="2596BE">
              <a:alpha val="35000"/>
            </a:srgbClr>
          </a:solidFill>
          <a:ln w="12700">
            <a:solidFill>
              <a:srgbClr val="2596BE"/>
            </a:solidFill>
            <a:prstDash val="solid"/>
          </a:ln>
        </p:spPr>
      </p:sp>
      <p:sp>
        <p:nvSpPr>
          <p:cNvPr id="48" name="Shape 46"/>
          <p:cNvSpPr/>
          <p:nvPr/>
        </p:nvSpPr>
        <p:spPr>
          <a:xfrm>
            <a:off x="9436608" y="1225296"/>
            <a:ext cx="64008" cy="64008"/>
          </a:xfrm>
          <a:prstGeom prst="ellipse">
            <a:avLst/>
          </a:prstGeom>
          <a:solidFill>
            <a:srgbClr val="2596BE">
              <a:alpha val="35000"/>
            </a:srgbClr>
          </a:solidFill>
          <a:ln w="12700">
            <a:solidFill>
              <a:srgbClr val="2596BE"/>
            </a:solidFill>
            <a:prstDash val="solid"/>
          </a:ln>
        </p:spPr>
      </p:sp>
      <p:sp>
        <p:nvSpPr>
          <p:cNvPr id="49" name="Shape 47"/>
          <p:cNvSpPr/>
          <p:nvPr/>
        </p:nvSpPr>
        <p:spPr>
          <a:xfrm>
            <a:off x="9692640" y="1225296"/>
            <a:ext cx="64008" cy="64008"/>
          </a:xfrm>
          <a:prstGeom prst="ellipse">
            <a:avLst/>
          </a:prstGeom>
          <a:solidFill>
            <a:srgbClr val="2596BE">
              <a:alpha val="35000"/>
            </a:srgbClr>
          </a:solidFill>
          <a:ln w="12700">
            <a:solidFill>
              <a:srgbClr val="2596BE"/>
            </a:solidFill>
            <a:prstDash val="solid"/>
          </a:ln>
        </p:spPr>
      </p:sp>
      <p:sp>
        <p:nvSpPr>
          <p:cNvPr id="50" name="Shape 48"/>
          <p:cNvSpPr/>
          <p:nvPr/>
        </p:nvSpPr>
        <p:spPr>
          <a:xfrm>
            <a:off x="9948672" y="1225296"/>
            <a:ext cx="64008" cy="64008"/>
          </a:xfrm>
          <a:prstGeom prst="ellipse">
            <a:avLst/>
          </a:prstGeom>
          <a:solidFill>
            <a:srgbClr val="2596BE">
              <a:alpha val="35000"/>
            </a:srgbClr>
          </a:solidFill>
          <a:ln w="12700">
            <a:solidFill>
              <a:srgbClr val="2596BE"/>
            </a:solidFill>
            <a:prstDash val="solid"/>
          </a:ln>
        </p:spPr>
      </p:sp>
      <p:sp>
        <p:nvSpPr>
          <p:cNvPr id="51" name="Shape 49"/>
          <p:cNvSpPr/>
          <p:nvPr/>
        </p:nvSpPr>
        <p:spPr>
          <a:xfrm>
            <a:off x="10204704" y="1225296"/>
            <a:ext cx="64008" cy="64008"/>
          </a:xfrm>
          <a:prstGeom prst="ellipse">
            <a:avLst/>
          </a:prstGeom>
          <a:solidFill>
            <a:srgbClr val="2596BE">
              <a:alpha val="35000"/>
            </a:srgbClr>
          </a:solidFill>
          <a:ln w="12700">
            <a:solidFill>
              <a:srgbClr val="2596BE"/>
            </a:solidFill>
            <a:prstDash val="solid"/>
          </a:ln>
        </p:spPr>
      </p:sp>
      <p:sp>
        <p:nvSpPr>
          <p:cNvPr id="52" name="Shape 50"/>
          <p:cNvSpPr/>
          <p:nvPr/>
        </p:nvSpPr>
        <p:spPr>
          <a:xfrm>
            <a:off x="10460736" y="1225296"/>
            <a:ext cx="64008" cy="64008"/>
          </a:xfrm>
          <a:prstGeom prst="ellipse">
            <a:avLst/>
          </a:prstGeom>
          <a:solidFill>
            <a:srgbClr val="2596BE">
              <a:alpha val="35000"/>
            </a:srgbClr>
          </a:solidFill>
          <a:ln w="12700">
            <a:solidFill>
              <a:srgbClr val="2596BE"/>
            </a:solidFill>
            <a:prstDash val="solid"/>
          </a:ln>
        </p:spPr>
      </p:sp>
      <p:sp>
        <p:nvSpPr>
          <p:cNvPr id="53" name="Shape 51"/>
          <p:cNvSpPr/>
          <p:nvPr/>
        </p:nvSpPr>
        <p:spPr>
          <a:xfrm>
            <a:off x="10716768" y="1225296"/>
            <a:ext cx="64008" cy="64008"/>
          </a:xfrm>
          <a:prstGeom prst="ellipse">
            <a:avLst/>
          </a:prstGeom>
          <a:solidFill>
            <a:srgbClr val="2596BE">
              <a:alpha val="35000"/>
            </a:srgbClr>
          </a:solidFill>
          <a:ln w="12700">
            <a:solidFill>
              <a:srgbClr val="2596BE"/>
            </a:solidFill>
            <a:prstDash val="solid"/>
          </a:ln>
        </p:spPr>
      </p:sp>
      <p:sp>
        <p:nvSpPr>
          <p:cNvPr id="54" name="Shape 52"/>
          <p:cNvSpPr/>
          <p:nvPr/>
        </p:nvSpPr>
        <p:spPr>
          <a:xfrm>
            <a:off x="10972800" y="1225296"/>
            <a:ext cx="64008" cy="64008"/>
          </a:xfrm>
          <a:prstGeom prst="ellipse">
            <a:avLst/>
          </a:prstGeom>
          <a:solidFill>
            <a:srgbClr val="2596BE">
              <a:alpha val="35000"/>
            </a:srgbClr>
          </a:solidFill>
          <a:ln w="12700">
            <a:solidFill>
              <a:srgbClr val="2596BE"/>
            </a:solidFill>
            <a:prstDash val="solid"/>
          </a:ln>
        </p:spPr>
      </p:sp>
      <p:sp>
        <p:nvSpPr>
          <p:cNvPr id="55" name="Shape 53"/>
          <p:cNvSpPr/>
          <p:nvPr/>
        </p:nvSpPr>
        <p:spPr>
          <a:xfrm>
            <a:off x="11228832" y="1225296"/>
            <a:ext cx="64008" cy="64008"/>
          </a:xfrm>
          <a:prstGeom prst="ellipse">
            <a:avLst/>
          </a:prstGeom>
          <a:solidFill>
            <a:srgbClr val="2596BE">
              <a:alpha val="35000"/>
            </a:srgbClr>
          </a:solidFill>
          <a:ln w="12700">
            <a:solidFill>
              <a:srgbClr val="2596BE"/>
            </a:solidFill>
            <a:prstDash val="solid"/>
          </a:ln>
        </p:spPr>
      </p:sp>
      <p:sp>
        <p:nvSpPr>
          <p:cNvPr id="56" name="Shape 54"/>
          <p:cNvSpPr/>
          <p:nvPr/>
        </p:nvSpPr>
        <p:spPr>
          <a:xfrm>
            <a:off x="11484864" y="1225296"/>
            <a:ext cx="64008" cy="64008"/>
          </a:xfrm>
          <a:prstGeom prst="ellipse">
            <a:avLst/>
          </a:prstGeom>
          <a:solidFill>
            <a:srgbClr val="2596BE">
              <a:alpha val="35000"/>
            </a:srgbClr>
          </a:solidFill>
          <a:ln w="12700">
            <a:solidFill>
              <a:srgbClr val="2596BE"/>
            </a:solidFill>
            <a:prstDash val="solid"/>
          </a:ln>
        </p:spPr>
      </p:sp>
      <p:sp>
        <p:nvSpPr>
          <p:cNvPr id="57" name="Shape 55"/>
          <p:cNvSpPr/>
          <p:nvPr/>
        </p:nvSpPr>
        <p:spPr>
          <a:xfrm>
            <a:off x="11740896" y="1225296"/>
            <a:ext cx="64008" cy="64008"/>
          </a:xfrm>
          <a:prstGeom prst="ellipse">
            <a:avLst/>
          </a:prstGeom>
          <a:solidFill>
            <a:srgbClr val="2596BE">
              <a:alpha val="35000"/>
            </a:srgbClr>
          </a:solidFill>
          <a:ln w="12700">
            <a:solidFill>
              <a:srgbClr val="2596BE"/>
            </a:solidFill>
            <a:prstDash val="solid"/>
          </a:ln>
        </p:spPr>
      </p:sp>
      <p:sp>
        <p:nvSpPr>
          <p:cNvPr id="58" name="Shape 56"/>
          <p:cNvSpPr/>
          <p:nvPr/>
        </p:nvSpPr>
        <p:spPr>
          <a:xfrm>
            <a:off x="8412480" y="1481328"/>
            <a:ext cx="64008" cy="64008"/>
          </a:xfrm>
          <a:prstGeom prst="ellipse">
            <a:avLst/>
          </a:prstGeom>
          <a:solidFill>
            <a:srgbClr val="2596BE">
              <a:alpha val="35000"/>
            </a:srgbClr>
          </a:solidFill>
          <a:ln w="12700">
            <a:solidFill>
              <a:srgbClr val="2596BE"/>
            </a:solidFill>
            <a:prstDash val="solid"/>
          </a:ln>
        </p:spPr>
      </p:sp>
      <p:sp>
        <p:nvSpPr>
          <p:cNvPr id="59" name="Shape 57"/>
          <p:cNvSpPr/>
          <p:nvPr/>
        </p:nvSpPr>
        <p:spPr>
          <a:xfrm>
            <a:off x="8668512" y="1481328"/>
            <a:ext cx="64008" cy="64008"/>
          </a:xfrm>
          <a:prstGeom prst="ellipse">
            <a:avLst/>
          </a:prstGeom>
          <a:solidFill>
            <a:srgbClr val="2596BE">
              <a:alpha val="35000"/>
            </a:srgbClr>
          </a:solidFill>
          <a:ln w="12700">
            <a:solidFill>
              <a:srgbClr val="2596BE"/>
            </a:solidFill>
            <a:prstDash val="solid"/>
          </a:ln>
        </p:spPr>
      </p:sp>
      <p:sp>
        <p:nvSpPr>
          <p:cNvPr id="60" name="Shape 58"/>
          <p:cNvSpPr/>
          <p:nvPr/>
        </p:nvSpPr>
        <p:spPr>
          <a:xfrm>
            <a:off x="8924544" y="1481328"/>
            <a:ext cx="64008" cy="64008"/>
          </a:xfrm>
          <a:prstGeom prst="ellipse">
            <a:avLst/>
          </a:prstGeom>
          <a:solidFill>
            <a:srgbClr val="2596BE">
              <a:alpha val="35000"/>
            </a:srgbClr>
          </a:solidFill>
          <a:ln w="12700">
            <a:solidFill>
              <a:srgbClr val="2596BE"/>
            </a:solidFill>
            <a:prstDash val="solid"/>
          </a:ln>
        </p:spPr>
      </p:sp>
      <p:sp>
        <p:nvSpPr>
          <p:cNvPr id="61" name="Shape 59"/>
          <p:cNvSpPr/>
          <p:nvPr/>
        </p:nvSpPr>
        <p:spPr>
          <a:xfrm>
            <a:off x="9180576" y="1481328"/>
            <a:ext cx="64008" cy="64008"/>
          </a:xfrm>
          <a:prstGeom prst="ellipse">
            <a:avLst/>
          </a:prstGeom>
          <a:solidFill>
            <a:srgbClr val="2596BE">
              <a:alpha val="35000"/>
            </a:srgbClr>
          </a:solidFill>
          <a:ln w="12700">
            <a:solidFill>
              <a:srgbClr val="2596BE"/>
            </a:solidFill>
            <a:prstDash val="solid"/>
          </a:ln>
        </p:spPr>
      </p:sp>
      <p:sp>
        <p:nvSpPr>
          <p:cNvPr id="62" name="Shape 60"/>
          <p:cNvSpPr/>
          <p:nvPr/>
        </p:nvSpPr>
        <p:spPr>
          <a:xfrm>
            <a:off x="9436608" y="1481328"/>
            <a:ext cx="64008" cy="64008"/>
          </a:xfrm>
          <a:prstGeom prst="ellipse">
            <a:avLst/>
          </a:prstGeom>
          <a:solidFill>
            <a:srgbClr val="2596BE">
              <a:alpha val="35000"/>
            </a:srgbClr>
          </a:solidFill>
          <a:ln w="12700">
            <a:solidFill>
              <a:srgbClr val="2596BE"/>
            </a:solidFill>
            <a:prstDash val="solid"/>
          </a:ln>
        </p:spPr>
      </p:sp>
      <p:sp>
        <p:nvSpPr>
          <p:cNvPr id="63" name="Shape 61"/>
          <p:cNvSpPr/>
          <p:nvPr/>
        </p:nvSpPr>
        <p:spPr>
          <a:xfrm>
            <a:off x="9692640" y="1481328"/>
            <a:ext cx="64008" cy="64008"/>
          </a:xfrm>
          <a:prstGeom prst="ellipse">
            <a:avLst/>
          </a:prstGeom>
          <a:solidFill>
            <a:srgbClr val="2596BE">
              <a:alpha val="35000"/>
            </a:srgbClr>
          </a:solidFill>
          <a:ln w="12700">
            <a:solidFill>
              <a:srgbClr val="2596BE"/>
            </a:solidFill>
            <a:prstDash val="solid"/>
          </a:ln>
        </p:spPr>
      </p:sp>
      <p:sp>
        <p:nvSpPr>
          <p:cNvPr id="64" name="Shape 62"/>
          <p:cNvSpPr/>
          <p:nvPr/>
        </p:nvSpPr>
        <p:spPr>
          <a:xfrm>
            <a:off x="9948672" y="1481328"/>
            <a:ext cx="64008" cy="64008"/>
          </a:xfrm>
          <a:prstGeom prst="ellipse">
            <a:avLst/>
          </a:prstGeom>
          <a:solidFill>
            <a:srgbClr val="2596BE">
              <a:alpha val="35000"/>
            </a:srgbClr>
          </a:solidFill>
          <a:ln w="12700">
            <a:solidFill>
              <a:srgbClr val="2596BE"/>
            </a:solidFill>
            <a:prstDash val="solid"/>
          </a:ln>
        </p:spPr>
      </p:sp>
      <p:sp>
        <p:nvSpPr>
          <p:cNvPr id="65" name="Shape 63"/>
          <p:cNvSpPr/>
          <p:nvPr/>
        </p:nvSpPr>
        <p:spPr>
          <a:xfrm>
            <a:off x="10204704" y="1481328"/>
            <a:ext cx="64008" cy="64008"/>
          </a:xfrm>
          <a:prstGeom prst="ellipse">
            <a:avLst/>
          </a:prstGeom>
          <a:solidFill>
            <a:srgbClr val="2596BE">
              <a:alpha val="35000"/>
            </a:srgbClr>
          </a:solidFill>
          <a:ln w="12700">
            <a:solidFill>
              <a:srgbClr val="2596BE"/>
            </a:solidFill>
            <a:prstDash val="solid"/>
          </a:ln>
        </p:spPr>
      </p:sp>
      <p:sp>
        <p:nvSpPr>
          <p:cNvPr id="66" name="Shape 64"/>
          <p:cNvSpPr/>
          <p:nvPr/>
        </p:nvSpPr>
        <p:spPr>
          <a:xfrm>
            <a:off x="10460736" y="1481328"/>
            <a:ext cx="64008" cy="64008"/>
          </a:xfrm>
          <a:prstGeom prst="ellipse">
            <a:avLst/>
          </a:prstGeom>
          <a:solidFill>
            <a:srgbClr val="2596BE">
              <a:alpha val="35000"/>
            </a:srgbClr>
          </a:solidFill>
          <a:ln w="12700">
            <a:solidFill>
              <a:srgbClr val="2596BE"/>
            </a:solidFill>
            <a:prstDash val="solid"/>
          </a:ln>
        </p:spPr>
      </p:sp>
      <p:sp>
        <p:nvSpPr>
          <p:cNvPr id="67" name="Shape 65"/>
          <p:cNvSpPr/>
          <p:nvPr/>
        </p:nvSpPr>
        <p:spPr>
          <a:xfrm>
            <a:off x="10716768" y="1481328"/>
            <a:ext cx="64008" cy="64008"/>
          </a:xfrm>
          <a:prstGeom prst="ellipse">
            <a:avLst/>
          </a:prstGeom>
          <a:solidFill>
            <a:srgbClr val="2596BE">
              <a:alpha val="35000"/>
            </a:srgbClr>
          </a:solidFill>
          <a:ln w="12700">
            <a:solidFill>
              <a:srgbClr val="2596BE"/>
            </a:solidFill>
            <a:prstDash val="solid"/>
          </a:ln>
        </p:spPr>
      </p:sp>
      <p:sp>
        <p:nvSpPr>
          <p:cNvPr id="68" name="Shape 66"/>
          <p:cNvSpPr/>
          <p:nvPr/>
        </p:nvSpPr>
        <p:spPr>
          <a:xfrm>
            <a:off x="10972800" y="1481328"/>
            <a:ext cx="64008" cy="64008"/>
          </a:xfrm>
          <a:prstGeom prst="ellipse">
            <a:avLst/>
          </a:prstGeom>
          <a:solidFill>
            <a:srgbClr val="2596BE">
              <a:alpha val="35000"/>
            </a:srgbClr>
          </a:solidFill>
          <a:ln w="12700">
            <a:solidFill>
              <a:srgbClr val="2596BE"/>
            </a:solidFill>
            <a:prstDash val="solid"/>
          </a:ln>
        </p:spPr>
      </p:sp>
      <p:sp>
        <p:nvSpPr>
          <p:cNvPr id="69" name="Shape 67"/>
          <p:cNvSpPr/>
          <p:nvPr/>
        </p:nvSpPr>
        <p:spPr>
          <a:xfrm>
            <a:off x="11228832" y="1481328"/>
            <a:ext cx="64008" cy="64008"/>
          </a:xfrm>
          <a:prstGeom prst="ellipse">
            <a:avLst/>
          </a:prstGeom>
          <a:solidFill>
            <a:srgbClr val="2596BE">
              <a:alpha val="35000"/>
            </a:srgbClr>
          </a:solidFill>
          <a:ln w="12700">
            <a:solidFill>
              <a:srgbClr val="2596BE"/>
            </a:solidFill>
            <a:prstDash val="solid"/>
          </a:ln>
        </p:spPr>
      </p:sp>
      <p:sp>
        <p:nvSpPr>
          <p:cNvPr id="70" name="Shape 68"/>
          <p:cNvSpPr/>
          <p:nvPr/>
        </p:nvSpPr>
        <p:spPr>
          <a:xfrm>
            <a:off x="11484864" y="1481328"/>
            <a:ext cx="64008" cy="64008"/>
          </a:xfrm>
          <a:prstGeom prst="ellipse">
            <a:avLst/>
          </a:prstGeom>
          <a:solidFill>
            <a:srgbClr val="2596BE">
              <a:alpha val="35000"/>
            </a:srgbClr>
          </a:solidFill>
          <a:ln w="12700">
            <a:solidFill>
              <a:srgbClr val="2596BE"/>
            </a:solidFill>
            <a:prstDash val="solid"/>
          </a:ln>
        </p:spPr>
      </p:sp>
      <p:sp>
        <p:nvSpPr>
          <p:cNvPr id="71" name="Shape 69"/>
          <p:cNvSpPr/>
          <p:nvPr/>
        </p:nvSpPr>
        <p:spPr>
          <a:xfrm>
            <a:off x="11740896" y="1481328"/>
            <a:ext cx="64008" cy="64008"/>
          </a:xfrm>
          <a:prstGeom prst="ellipse">
            <a:avLst/>
          </a:prstGeom>
          <a:solidFill>
            <a:srgbClr val="2596BE">
              <a:alpha val="35000"/>
            </a:srgbClr>
          </a:solidFill>
          <a:ln w="12700">
            <a:solidFill>
              <a:srgbClr val="2596BE"/>
            </a:solidFill>
            <a:prstDash val="solid"/>
          </a:ln>
        </p:spPr>
      </p:sp>
      <p:sp>
        <p:nvSpPr>
          <p:cNvPr id="72" name="Shape 70"/>
          <p:cNvSpPr/>
          <p:nvPr/>
        </p:nvSpPr>
        <p:spPr>
          <a:xfrm>
            <a:off x="8412480" y="1737360"/>
            <a:ext cx="64008" cy="64008"/>
          </a:xfrm>
          <a:prstGeom prst="ellipse">
            <a:avLst/>
          </a:prstGeom>
          <a:solidFill>
            <a:srgbClr val="2596BE">
              <a:alpha val="35000"/>
            </a:srgbClr>
          </a:solidFill>
          <a:ln w="12700">
            <a:solidFill>
              <a:srgbClr val="2596BE"/>
            </a:solidFill>
            <a:prstDash val="solid"/>
          </a:ln>
        </p:spPr>
      </p:sp>
      <p:sp>
        <p:nvSpPr>
          <p:cNvPr id="73" name="Shape 71"/>
          <p:cNvSpPr/>
          <p:nvPr/>
        </p:nvSpPr>
        <p:spPr>
          <a:xfrm>
            <a:off x="8668512" y="1737360"/>
            <a:ext cx="64008" cy="64008"/>
          </a:xfrm>
          <a:prstGeom prst="ellipse">
            <a:avLst/>
          </a:prstGeom>
          <a:solidFill>
            <a:srgbClr val="2596BE">
              <a:alpha val="35000"/>
            </a:srgbClr>
          </a:solidFill>
          <a:ln w="12700">
            <a:solidFill>
              <a:srgbClr val="2596BE"/>
            </a:solidFill>
            <a:prstDash val="solid"/>
          </a:ln>
        </p:spPr>
      </p:sp>
      <p:sp>
        <p:nvSpPr>
          <p:cNvPr id="74" name="Shape 72"/>
          <p:cNvSpPr/>
          <p:nvPr/>
        </p:nvSpPr>
        <p:spPr>
          <a:xfrm>
            <a:off x="8924544" y="1737360"/>
            <a:ext cx="64008" cy="64008"/>
          </a:xfrm>
          <a:prstGeom prst="ellipse">
            <a:avLst/>
          </a:prstGeom>
          <a:solidFill>
            <a:srgbClr val="2596BE">
              <a:alpha val="35000"/>
            </a:srgbClr>
          </a:solidFill>
          <a:ln w="12700">
            <a:solidFill>
              <a:srgbClr val="2596BE"/>
            </a:solidFill>
            <a:prstDash val="solid"/>
          </a:ln>
        </p:spPr>
      </p:sp>
      <p:sp>
        <p:nvSpPr>
          <p:cNvPr id="75" name="Shape 73"/>
          <p:cNvSpPr/>
          <p:nvPr/>
        </p:nvSpPr>
        <p:spPr>
          <a:xfrm>
            <a:off x="9180576" y="1737360"/>
            <a:ext cx="64008" cy="64008"/>
          </a:xfrm>
          <a:prstGeom prst="ellipse">
            <a:avLst/>
          </a:prstGeom>
          <a:solidFill>
            <a:srgbClr val="2596BE">
              <a:alpha val="35000"/>
            </a:srgbClr>
          </a:solidFill>
          <a:ln w="12700">
            <a:solidFill>
              <a:srgbClr val="2596BE"/>
            </a:solidFill>
            <a:prstDash val="solid"/>
          </a:ln>
        </p:spPr>
      </p:sp>
      <p:sp>
        <p:nvSpPr>
          <p:cNvPr id="76" name="Shape 74"/>
          <p:cNvSpPr/>
          <p:nvPr/>
        </p:nvSpPr>
        <p:spPr>
          <a:xfrm>
            <a:off x="9436608" y="1737360"/>
            <a:ext cx="64008" cy="64008"/>
          </a:xfrm>
          <a:prstGeom prst="ellipse">
            <a:avLst/>
          </a:prstGeom>
          <a:solidFill>
            <a:srgbClr val="2596BE">
              <a:alpha val="35000"/>
            </a:srgbClr>
          </a:solidFill>
          <a:ln w="12700">
            <a:solidFill>
              <a:srgbClr val="2596BE"/>
            </a:solidFill>
            <a:prstDash val="solid"/>
          </a:ln>
        </p:spPr>
      </p:sp>
      <p:sp>
        <p:nvSpPr>
          <p:cNvPr id="77" name="Shape 75"/>
          <p:cNvSpPr/>
          <p:nvPr/>
        </p:nvSpPr>
        <p:spPr>
          <a:xfrm>
            <a:off x="9692640" y="1737360"/>
            <a:ext cx="64008" cy="64008"/>
          </a:xfrm>
          <a:prstGeom prst="ellipse">
            <a:avLst/>
          </a:prstGeom>
          <a:solidFill>
            <a:srgbClr val="2596BE">
              <a:alpha val="35000"/>
            </a:srgbClr>
          </a:solidFill>
          <a:ln w="12700">
            <a:solidFill>
              <a:srgbClr val="2596BE"/>
            </a:solidFill>
            <a:prstDash val="solid"/>
          </a:ln>
        </p:spPr>
      </p:sp>
      <p:sp>
        <p:nvSpPr>
          <p:cNvPr id="78" name="Shape 76"/>
          <p:cNvSpPr/>
          <p:nvPr/>
        </p:nvSpPr>
        <p:spPr>
          <a:xfrm>
            <a:off x="9948672" y="1737360"/>
            <a:ext cx="64008" cy="64008"/>
          </a:xfrm>
          <a:prstGeom prst="ellipse">
            <a:avLst/>
          </a:prstGeom>
          <a:solidFill>
            <a:srgbClr val="2596BE">
              <a:alpha val="35000"/>
            </a:srgbClr>
          </a:solidFill>
          <a:ln w="12700">
            <a:solidFill>
              <a:srgbClr val="2596BE"/>
            </a:solidFill>
            <a:prstDash val="solid"/>
          </a:ln>
        </p:spPr>
      </p:sp>
      <p:sp>
        <p:nvSpPr>
          <p:cNvPr id="79" name="Shape 77"/>
          <p:cNvSpPr/>
          <p:nvPr/>
        </p:nvSpPr>
        <p:spPr>
          <a:xfrm>
            <a:off x="10204704" y="1737360"/>
            <a:ext cx="64008" cy="64008"/>
          </a:xfrm>
          <a:prstGeom prst="ellipse">
            <a:avLst/>
          </a:prstGeom>
          <a:solidFill>
            <a:srgbClr val="2596BE">
              <a:alpha val="35000"/>
            </a:srgbClr>
          </a:solidFill>
          <a:ln w="12700">
            <a:solidFill>
              <a:srgbClr val="2596BE"/>
            </a:solidFill>
            <a:prstDash val="solid"/>
          </a:ln>
        </p:spPr>
      </p:sp>
      <p:sp>
        <p:nvSpPr>
          <p:cNvPr id="80" name="Shape 78"/>
          <p:cNvSpPr/>
          <p:nvPr/>
        </p:nvSpPr>
        <p:spPr>
          <a:xfrm>
            <a:off x="10460736" y="1737360"/>
            <a:ext cx="64008" cy="64008"/>
          </a:xfrm>
          <a:prstGeom prst="ellipse">
            <a:avLst/>
          </a:prstGeom>
          <a:solidFill>
            <a:srgbClr val="2596BE">
              <a:alpha val="35000"/>
            </a:srgbClr>
          </a:solidFill>
          <a:ln w="12700">
            <a:solidFill>
              <a:srgbClr val="2596BE"/>
            </a:solidFill>
            <a:prstDash val="solid"/>
          </a:ln>
        </p:spPr>
      </p:sp>
      <p:sp>
        <p:nvSpPr>
          <p:cNvPr id="81" name="Shape 79"/>
          <p:cNvSpPr/>
          <p:nvPr/>
        </p:nvSpPr>
        <p:spPr>
          <a:xfrm>
            <a:off x="10716768" y="1737360"/>
            <a:ext cx="64008" cy="64008"/>
          </a:xfrm>
          <a:prstGeom prst="ellipse">
            <a:avLst/>
          </a:prstGeom>
          <a:solidFill>
            <a:srgbClr val="2596BE">
              <a:alpha val="35000"/>
            </a:srgbClr>
          </a:solidFill>
          <a:ln w="12700">
            <a:solidFill>
              <a:srgbClr val="2596BE"/>
            </a:solidFill>
            <a:prstDash val="solid"/>
          </a:ln>
        </p:spPr>
      </p:sp>
      <p:sp>
        <p:nvSpPr>
          <p:cNvPr id="82" name="Shape 80"/>
          <p:cNvSpPr/>
          <p:nvPr/>
        </p:nvSpPr>
        <p:spPr>
          <a:xfrm>
            <a:off x="10972800" y="1737360"/>
            <a:ext cx="64008" cy="64008"/>
          </a:xfrm>
          <a:prstGeom prst="ellipse">
            <a:avLst/>
          </a:prstGeom>
          <a:solidFill>
            <a:srgbClr val="2596BE">
              <a:alpha val="35000"/>
            </a:srgbClr>
          </a:solidFill>
          <a:ln w="12700">
            <a:solidFill>
              <a:srgbClr val="2596BE"/>
            </a:solidFill>
            <a:prstDash val="solid"/>
          </a:ln>
        </p:spPr>
      </p:sp>
      <p:sp>
        <p:nvSpPr>
          <p:cNvPr id="83" name="Shape 81"/>
          <p:cNvSpPr/>
          <p:nvPr/>
        </p:nvSpPr>
        <p:spPr>
          <a:xfrm>
            <a:off x="11228832" y="1737360"/>
            <a:ext cx="64008" cy="64008"/>
          </a:xfrm>
          <a:prstGeom prst="ellipse">
            <a:avLst/>
          </a:prstGeom>
          <a:solidFill>
            <a:srgbClr val="2596BE">
              <a:alpha val="35000"/>
            </a:srgbClr>
          </a:solidFill>
          <a:ln w="12700">
            <a:solidFill>
              <a:srgbClr val="2596BE"/>
            </a:solidFill>
            <a:prstDash val="solid"/>
          </a:ln>
        </p:spPr>
      </p:sp>
      <p:sp>
        <p:nvSpPr>
          <p:cNvPr id="84" name="Shape 82"/>
          <p:cNvSpPr/>
          <p:nvPr/>
        </p:nvSpPr>
        <p:spPr>
          <a:xfrm>
            <a:off x="11484864" y="1737360"/>
            <a:ext cx="64008" cy="64008"/>
          </a:xfrm>
          <a:prstGeom prst="ellipse">
            <a:avLst/>
          </a:prstGeom>
          <a:solidFill>
            <a:srgbClr val="2596BE">
              <a:alpha val="35000"/>
            </a:srgbClr>
          </a:solidFill>
          <a:ln w="12700">
            <a:solidFill>
              <a:srgbClr val="2596BE"/>
            </a:solidFill>
            <a:prstDash val="solid"/>
          </a:ln>
        </p:spPr>
      </p:sp>
      <p:sp>
        <p:nvSpPr>
          <p:cNvPr id="85" name="Shape 83"/>
          <p:cNvSpPr/>
          <p:nvPr/>
        </p:nvSpPr>
        <p:spPr>
          <a:xfrm>
            <a:off x="11740896" y="1737360"/>
            <a:ext cx="64008" cy="64008"/>
          </a:xfrm>
          <a:prstGeom prst="ellipse">
            <a:avLst/>
          </a:prstGeom>
          <a:solidFill>
            <a:srgbClr val="2596BE">
              <a:alpha val="35000"/>
            </a:srgbClr>
          </a:solidFill>
          <a:ln w="12700">
            <a:solidFill>
              <a:srgbClr val="2596BE"/>
            </a:solidFill>
            <a:prstDash val="solid"/>
          </a:ln>
        </p:spPr>
      </p:sp>
      <p:sp>
        <p:nvSpPr>
          <p:cNvPr id="86" name="Text 84"/>
          <p:cNvSpPr/>
          <p:nvPr/>
        </p:nvSpPr>
        <p:spPr>
          <a:xfrm>
            <a:off x="640080" y="1828800"/>
            <a:ext cx="7315200" cy="365760"/>
          </a:xfrm>
          <a:prstGeom prst="rect">
            <a:avLst/>
          </a:prstGeom>
          <a:noFill/>
          <a:ln/>
        </p:spPr>
        <p:txBody>
          <a:bodyPr wrap="square" lIns="0" tIns="0" rIns="0" bIns="0" rtlCol="0" anchor="ctr"/>
          <a:lstStyle/>
          <a:p>
            <a:pPr indent="0" marL="0">
              <a:buNone/>
            </a:pPr>
            <a:r>
              <a:rPr lang="en-US" sz="1200" b="1" spc="800" kern="0" dirty="0">
                <a:solidFill>
                  <a:srgbClr val="F4A261"/>
                </a:solidFill>
                <a:latin typeface="Calibri" pitchFamily="34" charset="0"/>
                <a:ea typeface="Calibri" pitchFamily="34" charset="-122"/>
                <a:cs typeface="Calibri" pitchFamily="34" charset="-120"/>
              </a:rPr>
              <a:t>CAT 2  •  PARALLEL SYSTEMS UNIT</a:t>
            </a:r>
            <a:endParaRPr lang="en-US" sz="1200" dirty="0"/>
          </a:p>
        </p:txBody>
      </p:sp>
      <p:sp>
        <p:nvSpPr>
          <p:cNvPr id="87" name="Text 85"/>
          <p:cNvSpPr/>
          <p:nvPr/>
        </p:nvSpPr>
        <p:spPr>
          <a:xfrm>
            <a:off x="640080" y="2286000"/>
            <a:ext cx="1005840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Parallel Image Processing</a:t>
            </a:r>
            <a:endParaRPr lang="en-US" sz="4800" dirty="0"/>
          </a:p>
        </p:txBody>
      </p:sp>
      <p:sp>
        <p:nvSpPr>
          <p:cNvPr id="88" name="Text 86"/>
          <p:cNvSpPr/>
          <p:nvPr/>
        </p:nvSpPr>
        <p:spPr>
          <a:xfrm>
            <a:off x="640080" y="3108960"/>
            <a:ext cx="10058400" cy="868680"/>
          </a:xfrm>
          <a:prstGeom prst="rect">
            <a:avLst/>
          </a:prstGeom>
          <a:noFill/>
          <a:ln/>
        </p:spPr>
        <p:txBody>
          <a:bodyPr wrap="square" lIns="0" tIns="0" rIns="0" bIns="0" rtlCol="0" anchor="ctr"/>
          <a:lstStyle/>
          <a:p>
            <a:pPr indent="0" marL="0">
              <a:buNone/>
            </a:pPr>
            <a:r>
              <a:rPr lang="en-US" sz="4800" b="1" dirty="0">
                <a:solidFill>
                  <a:srgbClr val="2596BE"/>
                </a:solidFill>
                <a:latin typeface="Cambria" pitchFamily="34" charset="0"/>
                <a:ea typeface="Cambria" pitchFamily="34" charset="-122"/>
                <a:cs typeface="Cambria" pitchFamily="34" charset="-120"/>
              </a:rPr>
              <a:t>Pipeline</a:t>
            </a:r>
            <a:endParaRPr lang="en-US" sz="4800" dirty="0"/>
          </a:p>
        </p:txBody>
      </p:sp>
      <p:sp>
        <p:nvSpPr>
          <p:cNvPr id="89" name="Text 87"/>
          <p:cNvSpPr/>
          <p:nvPr/>
        </p:nvSpPr>
        <p:spPr>
          <a:xfrm>
            <a:off x="640080" y="4069080"/>
            <a:ext cx="10058400" cy="457200"/>
          </a:xfrm>
          <a:prstGeom prst="rect">
            <a:avLst/>
          </a:prstGeom>
          <a:noFill/>
          <a:ln/>
        </p:spPr>
        <p:txBody>
          <a:bodyPr wrap="square" lIns="0" tIns="0" rIns="0" bIns="0" rtlCol="0" anchor="ctr"/>
          <a:lstStyle/>
          <a:p>
            <a:pPr indent="0" marL="0">
              <a:buNone/>
            </a:pPr>
            <a:r>
              <a:rPr lang="en-US" sz="2000" i="1" dirty="0">
                <a:solidFill>
                  <a:srgbClr val="A8B5CB"/>
                </a:solidFill>
                <a:latin typeface="Calibri" pitchFamily="34" charset="0"/>
                <a:ea typeface="Calibri" pitchFamily="34" charset="-122"/>
                <a:cs typeface="Calibri" pitchFamily="34" charset="-120"/>
              </a:rPr>
              <a:t>Multi-Paradigm Implementation and Benchmarking</a:t>
            </a:r>
            <a:endParaRPr lang="en-US" sz="2000" dirty="0"/>
          </a:p>
        </p:txBody>
      </p:sp>
      <p:sp>
        <p:nvSpPr>
          <p:cNvPr id="90" name="Shape 88"/>
          <p:cNvSpPr/>
          <p:nvPr/>
        </p:nvSpPr>
        <p:spPr>
          <a:xfrm>
            <a:off x="790956" y="5029200"/>
            <a:ext cx="2011680" cy="457200"/>
          </a:xfrm>
          <a:prstGeom prst="rect">
            <a:avLst/>
          </a:prstGeom>
          <a:solidFill>
            <a:srgbClr val="152741"/>
          </a:solidFill>
          <a:ln w="12700">
            <a:solidFill>
              <a:srgbClr val="1C7293"/>
            </a:solidFill>
            <a:prstDash val="solid"/>
          </a:ln>
        </p:spPr>
      </p:sp>
      <p:sp>
        <p:nvSpPr>
          <p:cNvPr id="91" name="Text 89"/>
          <p:cNvSpPr/>
          <p:nvPr/>
        </p:nvSpPr>
        <p:spPr>
          <a:xfrm>
            <a:off x="790956" y="5029200"/>
            <a:ext cx="2011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Sequential C</a:t>
            </a:r>
            <a:endParaRPr lang="en-US" sz="1300" dirty="0"/>
          </a:p>
        </p:txBody>
      </p:sp>
      <p:sp>
        <p:nvSpPr>
          <p:cNvPr id="92" name="Shape 90"/>
          <p:cNvSpPr/>
          <p:nvPr/>
        </p:nvSpPr>
        <p:spPr>
          <a:xfrm>
            <a:off x="2939796" y="5029200"/>
            <a:ext cx="2011680" cy="457200"/>
          </a:xfrm>
          <a:prstGeom prst="rect">
            <a:avLst/>
          </a:prstGeom>
          <a:solidFill>
            <a:srgbClr val="152741"/>
          </a:solidFill>
          <a:ln w="12700">
            <a:solidFill>
              <a:srgbClr val="1C7293"/>
            </a:solidFill>
            <a:prstDash val="solid"/>
          </a:ln>
        </p:spPr>
      </p:sp>
      <p:sp>
        <p:nvSpPr>
          <p:cNvPr id="93" name="Text 91"/>
          <p:cNvSpPr/>
          <p:nvPr/>
        </p:nvSpPr>
        <p:spPr>
          <a:xfrm>
            <a:off x="2939796" y="5029200"/>
            <a:ext cx="2011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OpenMP</a:t>
            </a:r>
            <a:endParaRPr lang="en-US" sz="1300" dirty="0"/>
          </a:p>
        </p:txBody>
      </p:sp>
      <p:sp>
        <p:nvSpPr>
          <p:cNvPr id="94" name="Shape 92"/>
          <p:cNvSpPr/>
          <p:nvPr/>
        </p:nvSpPr>
        <p:spPr>
          <a:xfrm>
            <a:off x="5088636" y="5029200"/>
            <a:ext cx="2011680" cy="457200"/>
          </a:xfrm>
          <a:prstGeom prst="rect">
            <a:avLst/>
          </a:prstGeom>
          <a:solidFill>
            <a:srgbClr val="152741"/>
          </a:solidFill>
          <a:ln w="12700">
            <a:solidFill>
              <a:srgbClr val="1C7293"/>
            </a:solidFill>
            <a:prstDash val="solid"/>
          </a:ln>
        </p:spPr>
      </p:sp>
      <p:sp>
        <p:nvSpPr>
          <p:cNvPr id="95" name="Text 93"/>
          <p:cNvSpPr/>
          <p:nvPr/>
        </p:nvSpPr>
        <p:spPr>
          <a:xfrm>
            <a:off x="5088636" y="5029200"/>
            <a:ext cx="2011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POSIX Threads</a:t>
            </a:r>
            <a:endParaRPr lang="en-US" sz="1300" dirty="0"/>
          </a:p>
        </p:txBody>
      </p:sp>
      <p:sp>
        <p:nvSpPr>
          <p:cNvPr id="96" name="Shape 94"/>
          <p:cNvSpPr/>
          <p:nvPr/>
        </p:nvSpPr>
        <p:spPr>
          <a:xfrm>
            <a:off x="7237476" y="5029200"/>
            <a:ext cx="2011680" cy="457200"/>
          </a:xfrm>
          <a:prstGeom prst="rect">
            <a:avLst/>
          </a:prstGeom>
          <a:solidFill>
            <a:srgbClr val="152741"/>
          </a:solidFill>
          <a:ln w="12700">
            <a:solidFill>
              <a:srgbClr val="1C7293"/>
            </a:solidFill>
            <a:prstDash val="solid"/>
          </a:ln>
        </p:spPr>
      </p:sp>
      <p:sp>
        <p:nvSpPr>
          <p:cNvPr id="97" name="Text 95"/>
          <p:cNvSpPr/>
          <p:nvPr/>
        </p:nvSpPr>
        <p:spPr>
          <a:xfrm>
            <a:off x="7237476" y="5029200"/>
            <a:ext cx="2011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MPI</a:t>
            </a:r>
            <a:endParaRPr lang="en-US" sz="1300" dirty="0"/>
          </a:p>
        </p:txBody>
      </p:sp>
      <p:sp>
        <p:nvSpPr>
          <p:cNvPr id="98" name="Shape 96"/>
          <p:cNvSpPr/>
          <p:nvPr/>
        </p:nvSpPr>
        <p:spPr>
          <a:xfrm>
            <a:off x="9386316" y="5029200"/>
            <a:ext cx="2011680" cy="457200"/>
          </a:xfrm>
          <a:prstGeom prst="rect">
            <a:avLst/>
          </a:prstGeom>
          <a:solidFill>
            <a:srgbClr val="152741"/>
          </a:solidFill>
          <a:ln w="12700">
            <a:solidFill>
              <a:srgbClr val="1C7293"/>
            </a:solidFill>
            <a:prstDash val="solid"/>
          </a:ln>
        </p:spPr>
      </p:sp>
      <p:sp>
        <p:nvSpPr>
          <p:cNvPr id="99" name="Text 97"/>
          <p:cNvSpPr/>
          <p:nvPr/>
        </p:nvSpPr>
        <p:spPr>
          <a:xfrm>
            <a:off x="9386316" y="5029200"/>
            <a:ext cx="2011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CUDA</a:t>
            </a:r>
            <a:endParaRPr lang="en-US" sz="1300" dirty="0"/>
          </a:p>
        </p:txBody>
      </p:sp>
      <p:sp>
        <p:nvSpPr>
          <p:cNvPr id="100" name="Text 98"/>
          <p:cNvSpPr/>
          <p:nvPr/>
        </p:nvSpPr>
        <p:spPr>
          <a:xfrm>
            <a:off x="640080" y="6126480"/>
            <a:ext cx="10972800" cy="365760"/>
          </a:xfrm>
          <a:prstGeom prst="rect">
            <a:avLst/>
          </a:prstGeom>
          <a:noFill/>
          <a:ln/>
        </p:spPr>
        <p:txBody>
          <a:bodyPr wrap="square" lIns="0" tIns="0" rIns="0" bIns="0" rtlCol="0" anchor="ctr"/>
          <a:lstStyle/>
          <a:p>
            <a:pPr indent="0" marL="0">
              <a:buNone/>
            </a:pPr>
            <a:r>
              <a:rPr lang="en-US" sz="1200" dirty="0">
                <a:solidFill>
                  <a:srgbClr val="A8B5CB"/>
                </a:solidFill>
                <a:latin typeface="Calibri" pitchFamily="34" charset="0"/>
                <a:ea typeface="Calibri" pitchFamily="34" charset="-122"/>
                <a:cs typeface="Calibri" pitchFamily="34" charset="-120"/>
              </a:rPr>
              <a:t>Ian   •   Final-Year CS Project   •   Parallel Systems CAT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Project Overview</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From a sequential pipeline to five parallel paradigms</a:t>
            </a:r>
            <a:endParaRPr lang="en-US" sz="1300" dirty="0"/>
          </a:p>
        </p:txBody>
      </p:sp>
      <p:sp>
        <p:nvSpPr>
          <p:cNvPr id="6" name="Text 4"/>
          <p:cNvSpPr/>
          <p:nvPr/>
        </p:nvSpPr>
        <p:spPr>
          <a:xfrm>
            <a:off x="457200" y="1371600"/>
            <a:ext cx="6400800" cy="41148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The Goal</a:t>
            </a:r>
            <a:endParaRPr lang="en-US" sz="1800" dirty="0"/>
          </a:p>
        </p:txBody>
      </p:sp>
      <p:sp>
        <p:nvSpPr>
          <p:cNvPr id="7" name="Text 5"/>
          <p:cNvSpPr/>
          <p:nvPr/>
        </p:nvSpPr>
        <p:spPr>
          <a:xfrm>
            <a:off x="457200" y="1828800"/>
            <a:ext cx="6400800" cy="1280160"/>
          </a:xfrm>
          <a:prstGeom prst="rect">
            <a:avLst/>
          </a:prstGeom>
          <a:noFill/>
          <a:ln/>
        </p:spPr>
        <p:txBody>
          <a:bodyPr wrap="square" lIns="0" tIns="0" rIns="0" bIns="0" rtlCol="0" anchor="t"/>
          <a:lstStyle/>
          <a:p>
            <a:pPr indent="0" marL="0">
              <a:buNone/>
            </a:pPr>
            <a:r>
              <a:rPr lang="en-US" sz="1400" dirty="0">
                <a:solidFill>
                  <a:srgbClr val="1A2332"/>
                </a:solidFill>
                <a:latin typeface="Calibri" pitchFamily="34" charset="0"/>
                <a:ea typeface="Calibri" pitchFamily="34" charset="-122"/>
                <a:cs typeface="Calibri" pitchFamily="34" charset="-120"/>
              </a:rPr>
              <a:t>Take a simple sequential image-processing pipeline (CAT 1) and rebuild it as a serious parallel system that exercises every major parallel programming paradigm covered in the unit.</a:t>
            </a:r>
            <a:endParaRPr lang="en-US" sz="1400" dirty="0"/>
          </a:p>
        </p:txBody>
      </p:sp>
      <p:sp>
        <p:nvSpPr>
          <p:cNvPr id="8" name="Text 6"/>
          <p:cNvSpPr/>
          <p:nvPr/>
        </p:nvSpPr>
        <p:spPr>
          <a:xfrm>
            <a:off x="457200" y="3200400"/>
            <a:ext cx="6400800" cy="41148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Approach</a:t>
            </a:r>
            <a:endParaRPr lang="en-US" sz="1800" dirty="0"/>
          </a:p>
        </p:txBody>
      </p:sp>
      <p:sp>
        <p:nvSpPr>
          <p:cNvPr id="9" name="Text 7"/>
          <p:cNvSpPr/>
          <p:nvPr/>
        </p:nvSpPr>
        <p:spPr>
          <a:xfrm>
            <a:off x="457200" y="3657600"/>
            <a:ext cx="6400800" cy="2377440"/>
          </a:xfrm>
          <a:prstGeom prst="rect">
            <a:avLst/>
          </a:prstGeom>
          <a:noFill/>
          <a:ln/>
        </p:spPr>
        <p:txBody>
          <a:bodyPr wrap="square" rtlCol="0" anchor="t"/>
          <a:lstStyle/>
          <a:p>
            <a:pPr marL="342900" indent="-342900">
              <a:spcAft>
                <a:spcPts val="600"/>
              </a:spcAft>
              <a:buSzPct val="100000"/>
              <a:buChar char="▪"/>
            </a:pPr>
            <a:r>
              <a:rPr lang="en-US" sz="1400" dirty="0">
                <a:solidFill>
                  <a:srgbClr val="1A2332"/>
                </a:solidFill>
                <a:latin typeface="Calibri" pitchFamily="34" charset="0"/>
                <a:ea typeface="Calibri" pitchFamily="34" charset="-122"/>
                <a:cs typeface="Calibri" pitchFamily="34" charset="-120"/>
              </a:rPr>
              <a:t>Re-implement five filters across five runtimes</a:t>
            </a:r>
            <a:endParaRPr lang="en-US" sz="1400" dirty="0"/>
          </a:p>
          <a:p>
            <a:pPr marL="342900" indent="-342900">
              <a:spcAft>
                <a:spcPts val="600"/>
              </a:spcAft>
              <a:buSzPct val="100000"/>
              <a:buChar char="▪"/>
            </a:pPr>
            <a:r>
              <a:rPr lang="en-US" sz="1400" dirty="0">
                <a:solidFill>
                  <a:srgbClr val="1A2332"/>
                </a:solidFill>
                <a:latin typeface="Calibri" pitchFamily="34" charset="0"/>
                <a:ea typeface="Calibri" pitchFamily="34" charset="-122"/>
                <a:cs typeface="Calibri" pitchFamily="34" charset="-120"/>
              </a:rPr>
              <a:t>Same kernel library, same image I/O, same benchmark CSV</a:t>
            </a:r>
            <a:endParaRPr lang="en-US" sz="1400" dirty="0"/>
          </a:p>
          <a:p>
            <a:pPr marL="342900" indent="-342900">
              <a:spcAft>
                <a:spcPts val="600"/>
              </a:spcAft>
              <a:buSzPct val="100000"/>
              <a:buChar char="▪"/>
            </a:pPr>
            <a:r>
              <a:rPr lang="en-US" sz="1400" dirty="0">
                <a:solidFill>
                  <a:srgbClr val="1A2332"/>
                </a:solidFill>
                <a:latin typeface="Calibri" pitchFamily="34" charset="0"/>
                <a:ea typeface="Calibri" pitchFamily="34" charset="-122"/>
                <a:cs typeface="Calibri" pitchFamily="34" charset="-120"/>
              </a:rPr>
              <a:t>Validate every parallel output against the sequential reference</a:t>
            </a:r>
            <a:endParaRPr lang="en-US" sz="1400" dirty="0"/>
          </a:p>
          <a:p>
            <a:pPr marL="342900" indent="-342900">
              <a:spcAft>
                <a:spcPts val="600"/>
              </a:spcAft>
              <a:buSzPct val="100000"/>
              <a:buChar char="▪"/>
            </a:pPr>
            <a:r>
              <a:rPr lang="en-US" sz="1400" dirty="0">
                <a:solidFill>
                  <a:srgbClr val="1A2332"/>
                </a:solidFill>
                <a:latin typeface="Calibri" pitchFamily="34" charset="0"/>
                <a:ea typeface="Calibri" pitchFamily="34" charset="-122"/>
                <a:cs typeface="Calibri" pitchFamily="34" charset="-120"/>
              </a:rPr>
              <a:t>One unified dashboard auto-generated from the results</a:t>
            </a:r>
            <a:endParaRPr lang="en-US" sz="1400" dirty="0"/>
          </a:p>
        </p:txBody>
      </p:sp>
      <p:sp>
        <p:nvSpPr>
          <p:cNvPr id="10" name="Shape 8"/>
          <p:cNvSpPr/>
          <p:nvPr/>
        </p:nvSpPr>
        <p:spPr>
          <a:xfrm>
            <a:off x="7498080" y="1371600"/>
            <a:ext cx="4206240" cy="4754880"/>
          </a:xfrm>
          <a:prstGeom prst="rect">
            <a:avLst/>
          </a:prstGeom>
          <a:solidFill>
            <a:srgbClr val="F5F7FA"/>
          </a:solidFill>
          <a:ln w="12700">
            <a:solidFill>
              <a:srgbClr val="E2E8F0"/>
            </a:solidFill>
            <a:prstDash val="solid"/>
          </a:ln>
        </p:spPr>
      </p:sp>
      <p:sp>
        <p:nvSpPr>
          <p:cNvPr id="11" name="Text 9"/>
          <p:cNvSpPr/>
          <p:nvPr/>
        </p:nvSpPr>
        <p:spPr>
          <a:xfrm>
            <a:off x="7498080" y="1508760"/>
            <a:ext cx="4206240" cy="320040"/>
          </a:xfrm>
          <a:prstGeom prst="rect">
            <a:avLst/>
          </a:prstGeom>
          <a:noFill/>
          <a:ln/>
        </p:spPr>
        <p:txBody>
          <a:bodyPr wrap="square" lIns="0" tIns="0" rIns="0" bIns="0" rtlCol="0" anchor="ctr"/>
          <a:lstStyle/>
          <a:p>
            <a:pPr algn="ctr" indent="0" marL="0">
              <a:buNone/>
            </a:pPr>
            <a:r>
              <a:rPr lang="en-US" sz="1100" b="1" spc="600" kern="0" dirty="0">
                <a:solidFill>
                  <a:srgbClr val="64748B"/>
                </a:solidFill>
                <a:latin typeface="Calibri" pitchFamily="34" charset="0"/>
                <a:ea typeface="Calibri" pitchFamily="34" charset="-122"/>
                <a:cs typeface="Calibri" pitchFamily="34" charset="-120"/>
              </a:rPr>
              <a:t>BY THE NUMBERS</a:t>
            </a:r>
            <a:endParaRPr lang="en-US" sz="1100" dirty="0"/>
          </a:p>
        </p:txBody>
      </p:sp>
      <p:sp>
        <p:nvSpPr>
          <p:cNvPr id="12" name="Text 10"/>
          <p:cNvSpPr/>
          <p:nvPr/>
        </p:nvSpPr>
        <p:spPr>
          <a:xfrm>
            <a:off x="7498080" y="1965960"/>
            <a:ext cx="4206240" cy="640080"/>
          </a:xfrm>
          <a:prstGeom prst="rect">
            <a:avLst/>
          </a:prstGeom>
          <a:noFill/>
          <a:ln/>
        </p:spPr>
        <p:txBody>
          <a:bodyPr wrap="square" lIns="0" tIns="0" rIns="0" bIns="0" rtlCol="0" anchor="ctr"/>
          <a:lstStyle/>
          <a:p>
            <a:pPr algn="ctr" indent="0" marL="0">
              <a:buNone/>
            </a:pPr>
            <a:r>
              <a:rPr lang="en-US" sz="4400" b="1" dirty="0">
                <a:solidFill>
                  <a:srgbClr val="F4A261"/>
                </a:solidFill>
                <a:latin typeface="Cambria" pitchFamily="34" charset="0"/>
                <a:ea typeface="Cambria" pitchFamily="34" charset="-122"/>
                <a:cs typeface="Cambria" pitchFamily="34" charset="-120"/>
              </a:rPr>
              <a:t>5</a:t>
            </a:r>
            <a:endParaRPr lang="en-US" sz="4400" dirty="0"/>
          </a:p>
        </p:txBody>
      </p:sp>
      <p:sp>
        <p:nvSpPr>
          <p:cNvPr id="13" name="Text 11"/>
          <p:cNvSpPr/>
          <p:nvPr/>
        </p:nvSpPr>
        <p:spPr>
          <a:xfrm>
            <a:off x="7498080" y="2606040"/>
            <a:ext cx="4206240" cy="274320"/>
          </a:xfrm>
          <a:prstGeom prst="rect">
            <a:avLst/>
          </a:prstGeom>
          <a:noFill/>
          <a:ln/>
        </p:spPr>
        <p:txBody>
          <a:bodyPr wrap="square" lIns="0" tIns="0" rIns="0" bIns="0" rtlCol="0" anchor="ctr"/>
          <a:lstStyle/>
          <a:p>
            <a:pPr algn="ctr" indent="0" marL="0">
              <a:buNone/>
            </a:pPr>
            <a:r>
              <a:rPr lang="en-US" sz="1200" dirty="0">
                <a:solidFill>
                  <a:srgbClr val="1A2332"/>
                </a:solidFill>
                <a:latin typeface="Calibri" pitchFamily="34" charset="0"/>
                <a:ea typeface="Calibri" pitchFamily="34" charset="-122"/>
                <a:cs typeface="Calibri" pitchFamily="34" charset="-120"/>
              </a:rPr>
              <a:t>parallel paradigms</a:t>
            </a:r>
            <a:endParaRPr lang="en-US" sz="1200" dirty="0"/>
          </a:p>
        </p:txBody>
      </p:sp>
      <p:sp>
        <p:nvSpPr>
          <p:cNvPr id="14" name="Text 12"/>
          <p:cNvSpPr/>
          <p:nvPr/>
        </p:nvSpPr>
        <p:spPr>
          <a:xfrm>
            <a:off x="7498080" y="3017520"/>
            <a:ext cx="4206240" cy="640080"/>
          </a:xfrm>
          <a:prstGeom prst="rect">
            <a:avLst/>
          </a:prstGeom>
          <a:noFill/>
          <a:ln/>
        </p:spPr>
        <p:txBody>
          <a:bodyPr wrap="square" lIns="0" tIns="0" rIns="0" bIns="0" rtlCol="0" anchor="ctr"/>
          <a:lstStyle/>
          <a:p>
            <a:pPr algn="ctr" indent="0" marL="0">
              <a:buNone/>
            </a:pPr>
            <a:r>
              <a:rPr lang="en-US" sz="4400" b="1" dirty="0">
                <a:solidFill>
                  <a:srgbClr val="F4A261"/>
                </a:solidFill>
                <a:latin typeface="Cambria" pitchFamily="34" charset="0"/>
                <a:ea typeface="Cambria" pitchFamily="34" charset="-122"/>
                <a:cs typeface="Cambria" pitchFamily="34" charset="-120"/>
              </a:rPr>
              <a:t>5</a:t>
            </a:r>
            <a:endParaRPr lang="en-US" sz="4400" dirty="0"/>
          </a:p>
        </p:txBody>
      </p:sp>
      <p:sp>
        <p:nvSpPr>
          <p:cNvPr id="15" name="Text 13"/>
          <p:cNvSpPr/>
          <p:nvPr/>
        </p:nvSpPr>
        <p:spPr>
          <a:xfrm>
            <a:off x="7498080" y="3657600"/>
            <a:ext cx="4206240" cy="274320"/>
          </a:xfrm>
          <a:prstGeom prst="rect">
            <a:avLst/>
          </a:prstGeom>
          <a:noFill/>
          <a:ln/>
        </p:spPr>
        <p:txBody>
          <a:bodyPr wrap="square" lIns="0" tIns="0" rIns="0" bIns="0" rtlCol="0" anchor="ctr"/>
          <a:lstStyle/>
          <a:p>
            <a:pPr algn="ctr" indent="0" marL="0">
              <a:buNone/>
            </a:pPr>
            <a:r>
              <a:rPr lang="en-US" sz="1200" dirty="0">
                <a:solidFill>
                  <a:srgbClr val="1A2332"/>
                </a:solidFill>
                <a:latin typeface="Calibri" pitchFamily="34" charset="0"/>
                <a:ea typeface="Calibri" pitchFamily="34" charset="-122"/>
                <a:cs typeface="Calibri" pitchFamily="34" charset="-120"/>
              </a:rPr>
              <a:t>image filters</a:t>
            </a:r>
            <a:endParaRPr lang="en-US" sz="1200" dirty="0"/>
          </a:p>
        </p:txBody>
      </p:sp>
      <p:sp>
        <p:nvSpPr>
          <p:cNvPr id="16" name="Text 14"/>
          <p:cNvSpPr/>
          <p:nvPr/>
        </p:nvSpPr>
        <p:spPr>
          <a:xfrm>
            <a:off x="7498080" y="4069080"/>
            <a:ext cx="4206240" cy="640080"/>
          </a:xfrm>
          <a:prstGeom prst="rect">
            <a:avLst/>
          </a:prstGeom>
          <a:noFill/>
          <a:ln/>
        </p:spPr>
        <p:txBody>
          <a:bodyPr wrap="square" lIns="0" tIns="0" rIns="0" bIns="0" rtlCol="0" anchor="ctr"/>
          <a:lstStyle/>
          <a:p>
            <a:pPr algn="ctr" indent="0" marL="0">
              <a:buNone/>
            </a:pPr>
            <a:r>
              <a:rPr lang="en-US" sz="4400" b="1" dirty="0">
                <a:solidFill>
                  <a:srgbClr val="F4A261"/>
                </a:solidFill>
                <a:latin typeface="Cambria" pitchFamily="34" charset="0"/>
                <a:ea typeface="Cambria" pitchFamily="34" charset="-122"/>
                <a:cs typeface="Cambria" pitchFamily="34" charset="-120"/>
              </a:rPr>
              <a:t>20 MP</a:t>
            </a:r>
            <a:endParaRPr lang="en-US" sz="4400" dirty="0"/>
          </a:p>
        </p:txBody>
      </p:sp>
      <p:sp>
        <p:nvSpPr>
          <p:cNvPr id="17" name="Text 15"/>
          <p:cNvSpPr/>
          <p:nvPr/>
        </p:nvSpPr>
        <p:spPr>
          <a:xfrm>
            <a:off x="7498080" y="4709160"/>
            <a:ext cx="4206240" cy="274320"/>
          </a:xfrm>
          <a:prstGeom prst="rect">
            <a:avLst/>
          </a:prstGeom>
          <a:noFill/>
          <a:ln/>
        </p:spPr>
        <p:txBody>
          <a:bodyPr wrap="square" lIns="0" tIns="0" rIns="0" bIns="0" rtlCol="0" anchor="ctr"/>
          <a:lstStyle/>
          <a:p>
            <a:pPr algn="ctr" indent="0" marL="0">
              <a:buNone/>
            </a:pPr>
            <a:r>
              <a:rPr lang="en-US" sz="1200" dirty="0">
                <a:solidFill>
                  <a:srgbClr val="1A2332"/>
                </a:solidFill>
                <a:latin typeface="Calibri" pitchFamily="34" charset="0"/>
                <a:ea typeface="Calibri" pitchFamily="34" charset="-122"/>
                <a:cs typeface="Calibri" pitchFamily="34" charset="-120"/>
              </a:rPr>
              <a:t>test image (6000×3376)</a:t>
            </a:r>
            <a:endParaRPr lang="en-US" sz="1200" dirty="0"/>
          </a:p>
        </p:txBody>
      </p:sp>
      <p:sp>
        <p:nvSpPr>
          <p:cNvPr id="18" name="Text 16"/>
          <p:cNvSpPr/>
          <p:nvPr/>
        </p:nvSpPr>
        <p:spPr>
          <a:xfrm>
            <a:off x="7498080" y="5120640"/>
            <a:ext cx="4206240" cy="640080"/>
          </a:xfrm>
          <a:prstGeom prst="rect">
            <a:avLst/>
          </a:prstGeom>
          <a:noFill/>
          <a:ln/>
        </p:spPr>
        <p:txBody>
          <a:bodyPr wrap="square" lIns="0" tIns="0" rIns="0" bIns="0" rtlCol="0" anchor="ctr"/>
          <a:lstStyle/>
          <a:p>
            <a:pPr algn="ctr" indent="0" marL="0">
              <a:buNone/>
            </a:pPr>
            <a:r>
              <a:rPr lang="en-US" sz="4400" b="1" dirty="0">
                <a:solidFill>
                  <a:srgbClr val="F4A261"/>
                </a:solidFill>
                <a:latin typeface="Cambria" pitchFamily="34" charset="0"/>
                <a:ea typeface="Cambria" pitchFamily="34" charset="-122"/>
                <a:cs typeface="Cambria" pitchFamily="34" charset="-120"/>
              </a:rPr>
              <a:t>100%</a:t>
            </a:r>
            <a:endParaRPr lang="en-US" sz="4400" dirty="0"/>
          </a:p>
        </p:txBody>
      </p:sp>
      <p:sp>
        <p:nvSpPr>
          <p:cNvPr id="19" name="Text 17"/>
          <p:cNvSpPr/>
          <p:nvPr/>
        </p:nvSpPr>
        <p:spPr>
          <a:xfrm>
            <a:off x="7498080" y="5760720"/>
            <a:ext cx="4206240" cy="274320"/>
          </a:xfrm>
          <a:prstGeom prst="rect">
            <a:avLst/>
          </a:prstGeom>
          <a:noFill/>
          <a:ln/>
        </p:spPr>
        <p:txBody>
          <a:bodyPr wrap="square" lIns="0" tIns="0" rIns="0" bIns="0" rtlCol="0" anchor="ctr"/>
          <a:lstStyle/>
          <a:p>
            <a:pPr algn="ctr" indent="0" marL="0">
              <a:buNone/>
            </a:pPr>
            <a:r>
              <a:rPr lang="en-US" sz="1200" dirty="0">
                <a:solidFill>
                  <a:srgbClr val="1A2332"/>
                </a:solidFill>
                <a:latin typeface="Calibri" pitchFamily="34" charset="0"/>
                <a:ea typeface="Calibri" pitchFamily="34" charset="-122"/>
                <a:cs typeface="Calibri" pitchFamily="34" charset="-120"/>
              </a:rPr>
              <a:t>CPU outputs bit-identical</a:t>
            </a:r>
            <a:endParaRPr lang="en-US" sz="1200" dirty="0"/>
          </a:p>
        </p:txBody>
      </p:sp>
      <p:sp>
        <p:nvSpPr>
          <p:cNvPr id="20" name="Text 18"/>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21" name="Text 19"/>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The Five Filters</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Chosen to cover the canonical parallel patterns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1463040"/>
                <a:gridCol w="4206240"/>
                <a:gridCol w="3657600"/>
                <a:gridCol w="1920240"/>
              </a:tblGrid>
              <a:tr h="5486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Filter</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B2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B2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Parallel pattern</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B2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Halo</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1B2C"/>
                    </a:solidFill>
                  </a:tcPr>
                </a:tc>
              </a:tr>
              <a:tr h="548640">
                <a:tc>
                  <a:txBody>
                    <a:bodyPr/>
                    <a:lstStyle/>
                    <a:p>
                      <a:pPr algn="l" indent="0" marL="0">
                        <a:buNone/>
                      </a:pPr>
                      <a:r>
                        <a:rPr lang="en-US" sz="1300" b="1" dirty="0">
                          <a:solidFill>
                            <a:srgbClr val="1C7293"/>
                          </a:solidFill>
                          <a:latin typeface="Calibri" pitchFamily="34" charset="0"/>
                          <a:ea typeface="Calibri" pitchFamily="34" charset="-122"/>
                          <a:cs typeface="Calibri" pitchFamily="34" charset="-120"/>
                        </a:rPr>
                        <a:t>blur</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Gaussian 5×5 smoothing</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Stencil</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algn="l" indent="0" marL="0">
                        <a:buNone/>
                      </a:pPr>
                      <a:r>
                        <a:rPr lang="en-US" sz="1300" b="1" dirty="0">
                          <a:solidFill>
                            <a:srgbClr val="1C7293"/>
                          </a:solidFill>
                          <a:latin typeface="Calibri" pitchFamily="34" charset="0"/>
                          <a:ea typeface="Calibri" pitchFamily="34" charset="-122"/>
                          <a:cs typeface="Calibri" pitchFamily="34" charset="-120"/>
                        </a:rPr>
                        <a:t>sobel</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Edge detection, normalised by global max</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Stencil + reduction</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algn="l" indent="0" marL="0">
                        <a:buNone/>
                      </a:pPr>
                      <a:r>
                        <a:rPr lang="en-US" sz="1300" b="1" dirty="0">
                          <a:solidFill>
                            <a:srgbClr val="1C7293"/>
                          </a:solidFill>
                          <a:latin typeface="Calibri" pitchFamily="34" charset="0"/>
                          <a:ea typeface="Calibri" pitchFamily="34" charset="-122"/>
                          <a:cs typeface="Calibri" pitchFamily="34" charset="-120"/>
                        </a:rPr>
                        <a:t>sharp</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Unsharp mask: blur → subtract → amplify</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Composite</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algn="l" indent="0" marL="0">
                        <a:buNone/>
                      </a:pPr>
                      <a:r>
                        <a:rPr lang="en-US" sz="1300" b="1" dirty="0">
                          <a:solidFill>
                            <a:srgbClr val="1C7293"/>
                          </a:solidFill>
                          <a:latin typeface="Calibri" pitchFamily="34" charset="0"/>
                          <a:ea typeface="Calibri" pitchFamily="34" charset="-122"/>
                          <a:cs typeface="Calibri" pitchFamily="34" charset="-120"/>
                        </a:rPr>
                        <a:t>bc</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Brightness / contrast adjustment</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Pointwise (map)</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48640">
                <a:tc>
                  <a:txBody>
                    <a:bodyPr/>
                    <a:lstStyle/>
                    <a:p>
                      <a:pPr algn="l" indent="0" marL="0">
                        <a:buNone/>
                      </a:pPr>
                      <a:r>
                        <a:rPr lang="en-US" sz="1300" b="1" dirty="0">
                          <a:solidFill>
                            <a:srgbClr val="1C7293"/>
                          </a:solidFill>
                          <a:latin typeface="Calibri" pitchFamily="34" charset="0"/>
                          <a:ea typeface="Calibri" pitchFamily="34" charset="-122"/>
                          <a:cs typeface="Calibri" pitchFamily="34" charset="-120"/>
                        </a:rPr>
                        <a:t>histeq</a:t>
                      </a:r>
                      <a:endParaRPr lang="en-US" sz="13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Histogram equalisation</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1A2332"/>
                          </a:solidFill>
                          <a:latin typeface="Calibri" pitchFamily="34" charset="0"/>
                          <a:ea typeface="Calibri" pitchFamily="34" charset="-122"/>
                          <a:cs typeface="Calibri" pitchFamily="34" charset="-120"/>
                        </a:rPr>
                        <a:t>Reduction + scan + map</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A2332"/>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127000" marR="127000" marT="76200" marB="762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457200" y="5074920"/>
            <a:ext cx="11247120" cy="1097280"/>
          </a:xfrm>
          <a:prstGeom prst="rect">
            <a:avLst/>
          </a:prstGeom>
          <a:solidFill>
            <a:srgbClr val="F5F7FA"/>
          </a:solidFill>
          <a:ln w="12700">
            <a:solidFill>
              <a:srgbClr val="F4A261"/>
            </a:solidFill>
            <a:prstDash val="solid"/>
          </a:ln>
        </p:spPr>
      </p:sp>
      <p:sp>
        <p:nvSpPr>
          <p:cNvPr id="8" name="Shape 5"/>
          <p:cNvSpPr/>
          <p:nvPr/>
        </p:nvSpPr>
        <p:spPr>
          <a:xfrm>
            <a:off x="457200" y="5074920"/>
            <a:ext cx="109728" cy="1097280"/>
          </a:xfrm>
          <a:prstGeom prst="rect">
            <a:avLst/>
          </a:prstGeom>
          <a:solidFill>
            <a:srgbClr val="F4A261"/>
          </a:solidFill>
          <a:ln w="12700">
            <a:solidFill>
              <a:srgbClr val="F4A261"/>
            </a:solidFill>
            <a:prstDash val="solid"/>
          </a:ln>
        </p:spPr>
      </p:sp>
      <p:sp>
        <p:nvSpPr>
          <p:cNvPr id="9" name="Text 6"/>
          <p:cNvSpPr/>
          <p:nvPr/>
        </p:nvSpPr>
        <p:spPr>
          <a:xfrm>
            <a:off x="777240" y="5166360"/>
            <a:ext cx="10789920" cy="365760"/>
          </a:xfrm>
          <a:prstGeom prst="rect">
            <a:avLst/>
          </a:prstGeom>
          <a:noFill/>
          <a:ln/>
        </p:spPr>
        <p:txBody>
          <a:bodyPr wrap="square" lIns="0" tIns="0" rIns="0" bIns="0" rtlCol="0" anchor="ctr"/>
          <a:lstStyle/>
          <a:p>
            <a:pPr indent="0" marL="0">
              <a:buNone/>
            </a:pPr>
            <a:r>
              <a:rPr lang="en-US" sz="1400" b="1" dirty="0">
                <a:solidFill>
                  <a:srgbClr val="0E1B2C"/>
                </a:solidFill>
                <a:latin typeface="Cambria" pitchFamily="34" charset="0"/>
                <a:ea typeface="Cambria" pitchFamily="34" charset="-122"/>
                <a:cs typeface="Cambria" pitchFamily="34" charset="-120"/>
              </a:rPr>
              <a:t>Why histeq is the deliberate non-trivial filter</a:t>
            </a:r>
            <a:endParaRPr lang="en-US" sz="1400" dirty="0"/>
          </a:p>
        </p:txBody>
      </p:sp>
      <p:sp>
        <p:nvSpPr>
          <p:cNvPr id="10" name="Text 7"/>
          <p:cNvSpPr/>
          <p:nvPr/>
        </p:nvSpPr>
        <p:spPr>
          <a:xfrm>
            <a:off x="777240" y="5532120"/>
            <a:ext cx="10789920" cy="59436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It cannot be parallelised by simply splitting rows — each worker only sees a fraction of the pixels and cannot build the global histogram alone. This forces a real reduction + prefix scan in every paradigm.</a:t>
            </a:r>
            <a:endParaRPr lang="en-US" sz="1200" dirty="0"/>
          </a:p>
        </p:txBody>
      </p:sp>
      <p:sp>
        <p:nvSpPr>
          <p:cNvPr id="11" name="Text 8"/>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12" name="Text 9"/>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Histogram Equalisation</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A three-stage parallel pattern that recurs in every paradigm</a:t>
            </a:r>
            <a:endParaRPr lang="en-US" sz="1300" dirty="0"/>
          </a:p>
        </p:txBody>
      </p:sp>
      <p:sp>
        <p:nvSpPr>
          <p:cNvPr id="6" name="Shape 4"/>
          <p:cNvSpPr/>
          <p:nvPr/>
        </p:nvSpPr>
        <p:spPr>
          <a:xfrm>
            <a:off x="539496" y="1828800"/>
            <a:ext cx="2468880" cy="2377440"/>
          </a:xfrm>
          <a:prstGeom prst="rect">
            <a:avLst/>
          </a:prstGeom>
          <a:solidFill>
            <a:srgbClr val="F5F7FA"/>
          </a:solidFill>
          <a:ln w="12700">
            <a:solidFill>
              <a:srgbClr val="E2E8F0"/>
            </a:solidFill>
            <a:prstDash val="solid"/>
          </a:ln>
        </p:spPr>
      </p:sp>
      <p:sp>
        <p:nvSpPr>
          <p:cNvPr id="7" name="Shape 5"/>
          <p:cNvSpPr/>
          <p:nvPr/>
        </p:nvSpPr>
        <p:spPr>
          <a:xfrm>
            <a:off x="1453896" y="2011680"/>
            <a:ext cx="640080" cy="640080"/>
          </a:xfrm>
          <a:prstGeom prst="ellipse">
            <a:avLst/>
          </a:prstGeom>
          <a:solidFill>
            <a:srgbClr val="1C7293"/>
          </a:solidFill>
          <a:ln w="12700">
            <a:solidFill>
              <a:srgbClr val="1C7293"/>
            </a:solidFill>
            <a:prstDash val="solid"/>
          </a:ln>
        </p:spPr>
      </p:sp>
      <p:sp>
        <p:nvSpPr>
          <p:cNvPr id="8" name="Text 6"/>
          <p:cNvSpPr/>
          <p:nvPr/>
        </p:nvSpPr>
        <p:spPr>
          <a:xfrm>
            <a:off x="1453896" y="20116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9" name="Text 7"/>
          <p:cNvSpPr/>
          <p:nvPr/>
        </p:nvSpPr>
        <p:spPr>
          <a:xfrm>
            <a:off x="676656" y="2743200"/>
            <a:ext cx="2194560" cy="457200"/>
          </a:xfrm>
          <a:prstGeom prst="rect">
            <a:avLst/>
          </a:prstGeom>
          <a:noFill/>
          <a:ln/>
        </p:spPr>
        <p:txBody>
          <a:bodyPr wrap="square" lIns="0" tIns="0" rIns="0" bIns="0" rtlCol="0" anchor="ctr"/>
          <a:lstStyle/>
          <a:p>
            <a:pPr algn="ctr" indent="0" marL="0">
              <a:buNone/>
            </a:pPr>
            <a:r>
              <a:rPr lang="en-US" sz="1500" b="1" dirty="0">
                <a:solidFill>
                  <a:srgbClr val="0E1B2C"/>
                </a:solidFill>
                <a:latin typeface="Cambria" pitchFamily="34" charset="0"/>
                <a:ea typeface="Cambria" pitchFamily="34" charset="-122"/>
                <a:cs typeface="Cambria" pitchFamily="34" charset="-120"/>
              </a:rPr>
              <a:t>Private Histograms</a:t>
            </a:r>
            <a:endParaRPr lang="en-US" sz="1500" dirty="0"/>
          </a:p>
        </p:txBody>
      </p:sp>
      <p:sp>
        <p:nvSpPr>
          <p:cNvPr id="10" name="Text 8"/>
          <p:cNvSpPr/>
          <p:nvPr/>
        </p:nvSpPr>
        <p:spPr>
          <a:xfrm>
            <a:off x="722376" y="3246120"/>
            <a:ext cx="2103120" cy="868680"/>
          </a:xfrm>
          <a:prstGeom prst="rect">
            <a:avLst/>
          </a:prstGeom>
          <a:noFill/>
          <a:ln/>
        </p:spPr>
        <p:txBody>
          <a:bodyPr wrap="square" lIns="0" tIns="0" rIns="0" bIns="0" rtlCol="0" anchor="t"/>
          <a:lstStyle/>
          <a:p>
            <a:pPr algn="ctr" indent="0" marL="0">
              <a:buNone/>
            </a:pPr>
            <a:r>
              <a:rPr lang="en-US" sz="1100" dirty="0">
                <a:solidFill>
                  <a:srgbClr val="1A2332"/>
                </a:solidFill>
                <a:latin typeface="Calibri" pitchFamily="34" charset="0"/>
                <a:ea typeface="Calibri" pitchFamily="34" charset="-122"/>
                <a:cs typeface="Calibri" pitchFamily="34" charset="-120"/>
              </a:rPr>
              <a:t>Each worker builds its own 256-bin histogram from its slice</a:t>
            </a:r>
            <a:endParaRPr lang="en-US" sz="1100" dirty="0"/>
          </a:p>
        </p:txBody>
      </p:sp>
      <p:sp>
        <p:nvSpPr>
          <p:cNvPr id="11" name="Shape 9"/>
          <p:cNvSpPr/>
          <p:nvPr/>
        </p:nvSpPr>
        <p:spPr>
          <a:xfrm>
            <a:off x="3054096" y="3017520"/>
            <a:ext cx="320040" cy="0"/>
          </a:xfrm>
          <a:prstGeom prst="line">
            <a:avLst/>
          </a:prstGeom>
          <a:noFill/>
          <a:ln w="25400">
            <a:solidFill>
              <a:srgbClr val="64748B"/>
            </a:solidFill>
            <a:prstDash val="solid"/>
            <a:tailEnd type="triangle"/>
          </a:ln>
        </p:spPr>
      </p:sp>
      <p:sp>
        <p:nvSpPr>
          <p:cNvPr id="12" name="Shape 10"/>
          <p:cNvSpPr/>
          <p:nvPr/>
        </p:nvSpPr>
        <p:spPr>
          <a:xfrm>
            <a:off x="3419856" y="1828800"/>
            <a:ext cx="2468880" cy="2377440"/>
          </a:xfrm>
          <a:prstGeom prst="rect">
            <a:avLst/>
          </a:prstGeom>
          <a:solidFill>
            <a:srgbClr val="F5F7FA"/>
          </a:solidFill>
          <a:ln w="12700">
            <a:solidFill>
              <a:srgbClr val="E2E8F0"/>
            </a:solidFill>
            <a:prstDash val="solid"/>
          </a:ln>
        </p:spPr>
      </p:sp>
      <p:sp>
        <p:nvSpPr>
          <p:cNvPr id="13" name="Shape 11"/>
          <p:cNvSpPr/>
          <p:nvPr/>
        </p:nvSpPr>
        <p:spPr>
          <a:xfrm>
            <a:off x="4334256" y="2011680"/>
            <a:ext cx="640080" cy="640080"/>
          </a:xfrm>
          <a:prstGeom prst="ellipse">
            <a:avLst/>
          </a:prstGeom>
          <a:solidFill>
            <a:srgbClr val="2596BE"/>
          </a:solidFill>
          <a:ln w="12700">
            <a:solidFill>
              <a:srgbClr val="2596BE"/>
            </a:solidFill>
            <a:prstDash val="solid"/>
          </a:ln>
        </p:spPr>
      </p:sp>
      <p:sp>
        <p:nvSpPr>
          <p:cNvPr id="14" name="Text 12"/>
          <p:cNvSpPr/>
          <p:nvPr/>
        </p:nvSpPr>
        <p:spPr>
          <a:xfrm>
            <a:off x="4334256" y="20116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Text 13"/>
          <p:cNvSpPr/>
          <p:nvPr/>
        </p:nvSpPr>
        <p:spPr>
          <a:xfrm>
            <a:off x="3557016" y="2743200"/>
            <a:ext cx="2194560" cy="457200"/>
          </a:xfrm>
          <a:prstGeom prst="rect">
            <a:avLst/>
          </a:prstGeom>
          <a:noFill/>
          <a:ln/>
        </p:spPr>
        <p:txBody>
          <a:bodyPr wrap="square" lIns="0" tIns="0" rIns="0" bIns="0" rtlCol="0" anchor="ctr"/>
          <a:lstStyle/>
          <a:p>
            <a:pPr algn="ctr" indent="0" marL="0">
              <a:buNone/>
            </a:pPr>
            <a:r>
              <a:rPr lang="en-US" sz="1500" b="1" dirty="0">
                <a:solidFill>
                  <a:srgbClr val="0E1B2C"/>
                </a:solidFill>
                <a:latin typeface="Cambria" pitchFamily="34" charset="0"/>
                <a:ea typeface="Cambria" pitchFamily="34" charset="-122"/>
                <a:cs typeface="Cambria" pitchFamily="34" charset="-120"/>
              </a:rPr>
              <a:t>Reduction</a:t>
            </a:r>
            <a:endParaRPr lang="en-US" sz="1500" dirty="0"/>
          </a:p>
        </p:txBody>
      </p:sp>
      <p:sp>
        <p:nvSpPr>
          <p:cNvPr id="16" name="Text 14"/>
          <p:cNvSpPr/>
          <p:nvPr/>
        </p:nvSpPr>
        <p:spPr>
          <a:xfrm>
            <a:off x="3602736" y="3246120"/>
            <a:ext cx="2103120" cy="868680"/>
          </a:xfrm>
          <a:prstGeom prst="rect">
            <a:avLst/>
          </a:prstGeom>
          <a:noFill/>
          <a:ln/>
        </p:spPr>
        <p:txBody>
          <a:bodyPr wrap="square" lIns="0" tIns="0" rIns="0" bIns="0" rtlCol="0" anchor="t"/>
          <a:lstStyle/>
          <a:p>
            <a:pPr algn="ctr" indent="0" marL="0">
              <a:buNone/>
            </a:pPr>
            <a:r>
              <a:rPr lang="en-US" sz="1100" dirty="0">
                <a:solidFill>
                  <a:srgbClr val="1A2332"/>
                </a:solidFill>
                <a:latin typeface="Calibri" pitchFamily="34" charset="0"/>
                <a:ea typeface="Calibri" pitchFamily="34" charset="-122"/>
                <a:cs typeface="Calibri" pitchFamily="34" charset="-120"/>
              </a:rPr>
              <a:t>Per-worker histograms are summed into one global histogram</a:t>
            </a:r>
            <a:endParaRPr lang="en-US" sz="1100" dirty="0"/>
          </a:p>
        </p:txBody>
      </p:sp>
      <p:sp>
        <p:nvSpPr>
          <p:cNvPr id="17" name="Shape 15"/>
          <p:cNvSpPr/>
          <p:nvPr/>
        </p:nvSpPr>
        <p:spPr>
          <a:xfrm>
            <a:off x="5934456" y="3017520"/>
            <a:ext cx="320040" cy="0"/>
          </a:xfrm>
          <a:prstGeom prst="line">
            <a:avLst/>
          </a:prstGeom>
          <a:noFill/>
          <a:ln w="25400">
            <a:solidFill>
              <a:srgbClr val="64748B"/>
            </a:solidFill>
            <a:prstDash val="solid"/>
            <a:tailEnd type="triangle"/>
          </a:ln>
        </p:spPr>
      </p:sp>
      <p:sp>
        <p:nvSpPr>
          <p:cNvPr id="18" name="Shape 16"/>
          <p:cNvSpPr/>
          <p:nvPr/>
        </p:nvSpPr>
        <p:spPr>
          <a:xfrm>
            <a:off x="6300216" y="1828800"/>
            <a:ext cx="2468880" cy="2377440"/>
          </a:xfrm>
          <a:prstGeom prst="rect">
            <a:avLst/>
          </a:prstGeom>
          <a:solidFill>
            <a:srgbClr val="F5F7FA"/>
          </a:solidFill>
          <a:ln w="12700">
            <a:solidFill>
              <a:srgbClr val="E2E8F0"/>
            </a:solidFill>
            <a:prstDash val="solid"/>
          </a:ln>
        </p:spPr>
      </p:sp>
      <p:sp>
        <p:nvSpPr>
          <p:cNvPr id="19" name="Shape 17"/>
          <p:cNvSpPr/>
          <p:nvPr/>
        </p:nvSpPr>
        <p:spPr>
          <a:xfrm>
            <a:off x="7214616" y="2011680"/>
            <a:ext cx="640080" cy="640080"/>
          </a:xfrm>
          <a:prstGeom prst="ellipse">
            <a:avLst/>
          </a:prstGeom>
          <a:solidFill>
            <a:srgbClr val="F4A261"/>
          </a:solidFill>
          <a:ln w="12700">
            <a:solidFill>
              <a:srgbClr val="F4A261"/>
            </a:solidFill>
            <a:prstDash val="solid"/>
          </a:ln>
        </p:spPr>
      </p:sp>
      <p:sp>
        <p:nvSpPr>
          <p:cNvPr id="20" name="Text 18"/>
          <p:cNvSpPr/>
          <p:nvPr/>
        </p:nvSpPr>
        <p:spPr>
          <a:xfrm>
            <a:off x="7214616" y="20116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1" name="Text 19"/>
          <p:cNvSpPr/>
          <p:nvPr/>
        </p:nvSpPr>
        <p:spPr>
          <a:xfrm>
            <a:off x="6437376" y="2743200"/>
            <a:ext cx="2194560" cy="457200"/>
          </a:xfrm>
          <a:prstGeom prst="rect">
            <a:avLst/>
          </a:prstGeom>
          <a:noFill/>
          <a:ln/>
        </p:spPr>
        <p:txBody>
          <a:bodyPr wrap="square" lIns="0" tIns="0" rIns="0" bIns="0" rtlCol="0" anchor="ctr"/>
          <a:lstStyle/>
          <a:p>
            <a:pPr algn="ctr" indent="0" marL="0">
              <a:buNone/>
            </a:pPr>
            <a:r>
              <a:rPr lang="en-US" sz="1500" b="1" dirty="0">
                <a:solidFill>
                  <a:srgbClr val="0E1B2C"/>
                </a:solidFill>
                <a:latin typeface="Cambria" pitchFamily="34" charset="0"/>
                <a:ea typeface="Cambria" pitchFamily="34" charset="-122"/>
                <a:cs typeface="Cambria" pitchFamily="34" charset="-120"/>
              </a:rPr>
              <a:t>Prefix Scan</a:t>
            </a:r>
            <a:endParaRPr lang="en-US" sz="1500" dirty="0"/>
          </a:p>
        </p:txBody>
      </p:sp>
      <p:sp>
        <p:nvSpPr>
          <p:cNvPr id="22" name="Text 20"/>
          <p:cNvSpPr/>
          <p:nvPr/>
        </p:nvSpPr>
        <p:spPr>
          <a:xfrm>
            <a:off x="6483096" y="3246120"/>
            <a:ext cx="2103120" cy="868680"/>
          </a:xfrm>
          <a:prstGeom prst="rect">
            <a:avLst/>
          </a:prstGeom>
          <a:noFill/>
          <a:ln/>
        </p:spPr>
        <p:txBody>
          <a:bodyPr wrap="square" lIns="0" tIns="0" rIns="0" bIns="0" rtlCol="0" anchor="t"/>
          <a:lstStyle/>
          <a:p>
            <a:pPr algn="ctr" indent="0" marL="0">
              <a:buNone/>
            </a:pPr>
            <a:r>
              <a:rPr lang="en-US" sz="1100" dirty="0">
                <a:solidFill>
                  <a:srgbClr val="1A2332"/>
                </a:solidFill>
                <a:latin typeface="Calibri" pitchFamily="34" charset="0"/>
                <a:ea typeface="Calibri" pitchFamily="34" charset="-122"/>
                <a:cs typeface="Calibri" pitchFamily="34" charset="-120"/>
              </a:rPr>
              <a:t>Global histogram converted to a CDF lookup table</a:t>
            </a:r>
            <a:endParaRPr lang="en-US" sz="1100" dirty="0"/>
          </a:p>
        </p:txBody>
      </p:sp>
      <p:sp>
        <p:nvSpPr>
          <p:cNvPr id="23" name="Shape 21"/>
          <p:cNvSpPr/>
          <p:nvPr/>
        </p:nvSpPr>
        <p:spPr>
          <a:xfrm>
            <a:off x="8814816" y="3017520"/>
            <a:ext cx="320040" cy="0"/>
          </a:xfrm>
          <a:prstGeom prst="line">
            <a:avLst/>
          </a:prstGeom>
          <a:noFill/>
          <a:ln w="25400">
            <a:solidFill>
              <a:srgbClr val="64748B"/>
            </a:solidFill>
            <a:prstDash val="solid"/>
            <a:tailEnd type="triangle"/>
          </a:ln>
        </p:spPr>
      </p:sp>
      <p:sp>
        <p:nvSpPr>
          <p:cNvPr id="24" name="Shape 22"/>
          <p:cNvSpPr/>
          <p:nvPr/>
        </p:nvSpPr>
        <p:spPr>
          <a:xfrm>
            <a:off x="9180576" y="1828800"/>
            <a:ext cx="2468880" cy="2377440"/>
          </a:xfrm>
          <a:prstGeom prst="rect">
            <a:avLst/>
          </a:prstGeom>
          <a:solidFill>
            <a:srgbClr val="F5F7FA"/>
          </a:solidFill>
          <a:ln w="12700">
            <a:solidFill>
              <a:srgbClr val="E2E8F0"/>
            </a:solidFill>
            <a:prstDash val="solid"/>
          </a:ln>
        </p:spPr>
      </p:sp>
      <p:sp>
        <p:nvSpPr>
          <p:cNvPr id="25" name="Shape 23"/>
          <p:cNvSpPr/>
          <p:nvPr/>
        </p:nvSpPr>
        <p:spPr>
          <a:xfrm>
            <a:off x="10094976" y="2011680"/>
            <a:ext cx="640080" cy="640080"/>
          </a:xfrm>
          <a:prstGeom prst="ellipse">
            <a:avLst/>
          </a:prstGeom>
          <a:solidFill>
            <a:srgbClr val="E76F51"/>
          </a:solidFill>
          <a:ln w="12700">
            <a:solidFill>
              <a:srgbClr val="E76F51"/>
            </a:solidFill>
            <a:prstDash val="solid"/>
          </a:ln>
        </p:spPr>
      </p:sp>
      <p:sp>
        <p:nvSpPr>
          <p:cNvPr id="26" name="Text 24"/>
          <p:cNvSpPr/>
          <p:nvPr/>
        </p:nvSpPr>
        <p:spPr>
          <a:xfrm>
            <a:off x="10094976" y="20116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7" name="Text 25"/>
          <p:cNvSpPr/>
          <p:nvPr/>
        </p:nvSpPr>
        <p:spPr>
          <a:xfrm>
            <a:off x="9317736" y="2743200"/>
            <a:ext cx="2194560" cy="457200"/>
          </a:xfrm>
          <a:prstGeom prst="rect">
            <a:avLst/>
          </a:prstGeom>
          <a:noFill/>
          <a:ln/>
        </p:spPr>
        <p:txBody>
          <a:bodyPr wrap="square" lIns="0" tIns="0" rIns="0" bIns="0" rtlCol="0" anchor="ctr"/>
          <a:lstStyle/>
          <a:p>
            <a:pPr algn="ctr" indent="0" marL="0">
              <a:buNone/>
            </a:pPr>
            <a:r>
              <a:rPr lang="en-US" sz="1500" b="1" dirty="0">
                <a:solidFill>
                  <a:srgbClr val="0E1B2C"/>
                </a:solidFill>
                <a:latin typeface="Cambria" pitchFamily="34" charset="0"/>
                <a:ea typeface="Cambria" pitchFamily="34" charset="-122"/>
                <a:cs typeface="Cambria" pitchFamily="34" charset="-120"/>
              </a:rPr>
              <a:t>Pointwise Map</a:t>
            </a:r>
            <a:endParaRPr lang="en-US" sz="1500" dirty="0"/>
          </a:p>
        </p:txBody>
      </p:sp>
      <p:sp>
        <p:nvSpPr>
          <p:cNvPr id="28" name="Text 26"/>
          <p:cNvSpPr/>
          <p:nvPr/>
        </p:nvSpPr>
        <p:spPr>
          <a:xfrm>
            <a:off x="9363456" y="3246120"/>
            <a:ext cx="2103120" cy="868680"/>
          </a:xfrm>
          <a:prstGeom prst="rect">
            <a:avLst/>
          </a:prstGeom>
          <a:noFill/>
          <a:ln/>
        </p:spPr>
        <p:txBody>
          <a:bodyPr wrap="square" lIns="0" tIns="0" rIns="0" bIns="0" rtlCol="0" anchor="t"/>
          <a:lstStyle/>
          <a:p>
            <a:pPr algn="ctr" indent="0" marL="0">
              <a:buNone/>
            </a:pPr>
            <a:r>
              <a:rPr lang="en-US" sz="1100" dirty="0">
                <a:solidFill>
                  <a:srgbClr val="1A2332"/>
                </a:solidFill>
                <a:latin typeface="Calibri" pitchFamily="34" charset="0"/>
                <a:ea typeface="Calibri" pitchFamily="34" charset="-122"/>
                <a:cs typeface="Calibri" pitchFamily="34" charset="-120"/>
              </a:rPr>
              <a:t>Every pixel mapped through the lookup table</a:t>
            </a:r>
            <a:endParaRPr lang="en-US" sz="1100" dirty="0"/>
          </a:p>
        </p:txBody>
      </p:sp>
      <p:sp>
        <p:nvSpPr>
          <p:cNvPr id="29" name="Shape 27"/>
          <p:cNvSpPr/>
          <p:nvPr/>
        </p:nvSpPr>
        <p:spPr>
          <a:xfrm>
            <a:off x="457200" y="4617720"/>
            <a:ext cx="11247120" cy="1554480"/>
          </a:xfrm>
          <a:prstGeom prst="rect">
            <a:avLst/>
          </a:prstGeom>
          <a:solidFill>
            <a:srgbClr val="0E1B2C"/>
          </a:solidFill>
          <a:ln w="12700">
            <a:solidFill>
              <a:srgbClr val="0E1B2C"/>
            </a:solidFill>
            <a:prstDash val="solid"/>
          </a:ln>
        </p:spPr>
      </p:sp>
      <p:sp>
        <p:nvSpPr>
          <p:cNvPr id="30" name="Text 28"/>
          <p:cNvSpPr/>
          <p:nvPr/>
        </p:nvSpPr>
        <p:spPr>
          <a:xfrm>
            <a:off x="777240" y="4754880"/>
            <a:ext cx="10607040" cy="411480"/>
          </a:xfrm>
          <a:prstGeom prst="rect">
            <a:avLst/>
          </a:prstGeom>
          <a:noFill/>
          <a:ln/>
        </p:spPr>
        <p:txBody>
          <a:bodyPr wrap="square" lIns="0" tIns="0" rIns="0" bIns="0" rtlCol="0" anchor="ctr"/>
          <a:lstStyle/>
          <a:p>
            <a:pPr indent="0" marL="0">
              <a:buNone/>
            </a:pPr>
            <a:r>
              <a:rPr lang="en-US" sz="1600" b="1" dirty="0">
                <a:solidFill>
                  <a:srgbClr val="F4A261"/>
                </a:solidFill>
                <a:latin typeface="Cambria" pitchFamily="34" charset="0"/>
                <a:ea typeface="Cambria" pitchFamily="34" charset="-122"/>
                <a:cs typeface="Cambria" pitchFamily="34" charset="-120"/>
              </a:rPr>
              <a:t>The same shape, expressed five different ways</a:t>
            </a:r>
            <a:endParaRPr lang="en-US" sz="1600" dirty="0"/>
          </a:p>
        </p:txBody>
      </p:sp>
      <p:sp>
        <p:nvSpPr>
          <p:cNvPr id="31" name="Text 29"/>
          <p:cNvSpPr/>
          <p:nvPr/>
        </p:nvSpPr>
        <p:spPr>
          <a:xfrm>
            <a:off x="777240" y="5257800"/>
            <a:ext cx="10607040" cy="777240"/>
          </a:xfrm>
          <a:prstGeom prst="rect">
            <a:avLst/>
          </a:prstGeom>
          <a:noFill/>
          <a:ln/>
        </p:spPr>
        <p:txBody>
          <a:bodyPr wrap="square" lIns="0" tIns="0" rIns="0" bIns="0" rtlCol="0" anchor="t"/>
          <a:lstStyle/>
          <a:p>
            <a:pPr indent="0" marL="0">
              <a:buNone/>
            </a:pPr>
            <a:r>
              <a:rPr lang="en-US" sz="1300" b="1" dirty="0">
                <a:solidFill>
                  <a:srgbClr val="2596BE"/>
                </a:solidFill>
                <a:latin typeface="Calibri" pitchFamily="34" charset="0"/>
                <a:ea typeface="Calibri" pitchFamily="34" charset="-122"/>
                <a:cs typeface="Calibri" pitchFamily="34" charset="-120"/>
              </a:rPr>
              <a:t>OpenMP: </a:t>
            </a:r>
            <a:pPr indent="0" marL="0">
              <a:buNone/>
            </a:pPr>
            <a:r>
              <a:rPr lang="en-US" sz="1300" dirty="0">
                <a:solidFill>
                  <a:srgbClr val="A8B5CB"/>
                </a:solidFill>
                <a:latin typeface="Calibri" pitchFamily="34" charset="0"/>
                <a:ea typeface="Calibri" pitchFamily="34" charset="-122"/>
                <a:cs typeface="Calibri" pitchFamily="34" charset="-120"/>
              </a:rPr>
              <a:t>reduction(+:hist[:256])  •  </a:t>
            </a:r>
            <a:pPr indent="0" marL="0">
              <a:buNone/>
            </a:pPr>
            <a:r>
              <a:rPr lang="en-US" sz="1300" b="1" dirty="0">
                <a:solidFill>
                  <a:srgbClr val="2596BE"/>
                </a:solidFill>
                <a:latin typeface="Calibri" pitchFamily="34" charset="0"/>
                <a:ea typeface="Calibri" pitchFamily="34" charset="-122"/>
                <a:cs typeface="Calibri" pitchFamily="34" charset="-120"/>
              </a:rPr>
              <a:t>POSIX threads: </a:t>
            </a:r>
            <a:pPr indent="0" marL="0">
              <a:buNone/>
            </a:pPr>
            <a:r>
              <a:rPr lang="en-US" sz="1300" dirty="0">
                <a:solidFill>
                  <a:srgbClr val="A8B5CB"/>
                </a:solidFill>
                <a:latin typeface="Calibri" pitchFamily="34" charset="0"/>
                <a:ea typeface="Calibri" pitchFamily="34" charset="-122"/>
                <a:cs typeface="Calibri" pitchFamily="34" charset="-120"/>
              </a:rPr>
              <a:t>per-worker hists, summed by main  •  </a:t>
            </a:r>
            <a:pPr indent="0" marL="0">
              <a:buNone/>
            </a:pPr>
            <a:r>
              <a:rPr lang="en-US" sz="1300" b="1" dirty="0">
                <a:solidFill>
                  <a:srgbClr val="2596BE"/>
                </a:solidFill>
                <a:latin typeface="Calibri" pitchFamily="34" charset="0"/>
                <a:ea typeface="Calibri" pitchFamily="34" charset="-122"/>
                <a:cs typeface="Calibri" pitchFamily="34" charset="-120"/>
              </a:rPr>
              <a:t>MPI: </a:t>
            </a:r>
            <a:pPr indent="0" marL="0">
              <a:buNone/>
            </a:pPr>
            <a:r>
              <a:rPr lang="en-US" sz="1300" dirty="0">
                <a:solidFill>
                  <a:srgbClr val="A8B5CB"/>
                </a:solidFill>
                <a:latin typeface="Calibri" pitchFamily="34" charset="0"/>
                <a:ea typeface="Calibri" pitchFamily="34" charset="-122"/>
                <a:cs typeface="Calibri" pitchFamily="34" charset="-120"/>
              </a:rPr>
              <a:t>MPI_Allreduce(MPI_SUM)  •  </a:t>
            </a:r>
            <a:pPr indent="0" marL="0">
              <a:buNone/>
            </a:pPr>
            <a:r>
              <a:rPr lang="en-US" sz="1300" b="1" dirty="0">
                <a:solidFill>
                  <a:srgbClr val="2596BE"/>
                </a:solidFill>
                <a:latin typeface="Calibri" pitchFamily="34" charset="0"/>
                <a:ea typeface="Calibri" pitchFamily="34" charset="-122"/>
                <a:cs typeface="Calibri" pitchFamily="34" charset="-120"/>
              </a:rPr>
              <a:t>CUDA: </a:t>
            </a:r>
            <a:pPr indent="0" marL="0">
              <a:buNone/>
            </a:pPr>
            <a:r>
              <a:rPr lang="en-US" sz="1300" dirty="0">
                <a:solidFill>
                  <a:srgbClr val="A8B5CB"/>
                </a:solidFill>
                <a:latin typeface="Calibri" pitchFamily="34" charset="0"/>
                <a:ea typeface="Calibri" pitchFamily="34" charset="-122"/>
                <a:cs typeface="Calibri" pitchFamily="34" charset="-120"/>
              </a:rPr>
              <a:t>atomic adds in shared memory</a:t>
            </a:r>
            <a:endParaRPr lang="en-US" sz="1300" dirty="0"/>
          </a:p>
        </p:txBody>
      </p:sp>
      <p:sp>
        <p:nvSpPr>
          <p:cNvPr id="32" name="Text 30"/>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33" name="Text 31"/>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Five Implementations</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Same maths, very different mechanics</a:t>
            </a:r>
            <a:endParaRPr lang="en-US" sz="1300" dirty="0"/>
          </a:p>
        </p:txBody>
      </p:sp>
      <p:sp>
        <p:nvSpPr>
          <p:cNvPr id="6" name="Shape 4"/>
          <p:cNvSpPr/>
          <p:nvPr/>
        </p:nvSpPr>
        <p:spPr>
          <a:xfrm>
            <a:off x="457200" y="1325880"/>
            <a:ext cx="3657600" cy="2331720"/>
          </a:xfrm>
          <a:prstGeom prst="rect">
            <a:avLst/>
          </a:prstGeom>
          <a:solidFill>
            <a:srgbClr val="F5F7FA"/>
          </a:solidFill>
          <a:ln w="12700">
            <a:solidFill>
              <a:srgbClr val="E2E8F0"/>
            </a:solidFill>
            <a:prstDash val="solid"/>
          </a:ln>
        </p:spPr>
      </p:sp>
      <p:sp>
        <p:nvSpPr>
          <p:cNvPr id="7" name="Shape 5"/>
          <p:cNvSpPr/>
          <p:nvPr/>
        </p:nvSpPr>
        <p:spPr>
          <a:xfrm>
            <a:off x="457200" y="1325880"/>
            <a:ext cx="109728" cy="2331720"/>
          </a:xfrm>
          <a:prstGeom prst="rect">
            <a:avLst/>
          </a:prstGeom>
          <a:solidFill>
            <a:srgbClr val="64748B"/>
          </a:solidFill>
          <a:ln w="12700">
            <a:solidFill>
              <a:srgbClr val="64748B"/>
            </a:solidFill>
            <a:prstDash val="solid"/>
          </a:ln>
        </p:spPr>
      </p:sp>
      <p:sp>
        <p:nvSpPr>
          <p:cNvPr id="8" name="Text 6"/>
          <p:cNvSpPr/>
          <p:nvPr/>
        </p:nvSpPr>
        <p:spPr>
          <a:xfrm>
            <a:off x="731520" y="1508760"/>
            <a:ext cx="3200400" cy="274320"/>
          </a:xfrm>
          <a:prstGeom prst="rect">
            <a:avLst/>
          </a:prstGeom>
          <a:noFill/>
          <a:ln/>
        </p:spPr>
        <p:txBody>
          <a:bodyPr wrap="square" lIns="0" tIns="0" rIns="0" bIns="0" rtlCol="0" anchor="ctr"/>
          <a:lstStyle/>
          <a:p>
            <a:pPr indent="0" marL="0">
              <a:buNone/>
            </a:pPr>
            <a:r>
              <a:rPr lang="en-US" sz="900" b="1" spc="500" kern="0" dirty="0">
                <a:solidFill>
                  <a:srgbClr val="64748B"/>
                </a:solidFill>
                <a:latin typeface="Calibri" pitchFamily="34" charset="0"/>
                <a:ea typeface="Calibri" pitchFamily="34" charset="-122"/>
                <a:cs typeface="Calibri" pitchFamily="34" charset="-120"/>
              </a:rPr>
              <a:t>REFERENCE</a:t>
            </a:r>
            <a:endParaRPr lang="en-US" sz="900" dirty="0"/>
          </a:p>
        </p:txBody>
      </p:sp>
      <p:sp>
        <p:nvSpPr>
          <p:cNvPr id="9" name="Text 7"/>
          <p:cNvSpPr/>
          <p:nvPr/>
        </p:nvSpPr>
        <p:spPr>
          <a:xfrm>
            <a:off x="731520" y="1783080"/>
            <a:ext cx="3200400" cy="502920"/>
          </a:xfrm>
          <a:prstGeom prst="rect">
            <a:avLst/>
          </a:prstGeom>
          <a:noFill/>
          <a:ln/>
        </p:spPr>
        <p:txBody>
          <a:bodyPr wrap="square" lIns="0" tIns="0" rIns="0" bIns="0" rtlCol="0" anchor="ctr"/>
          <a:lstStyle/>
          <a:p>
            <a:pPr indent="0" marL="0">
              <a:buNone/>
            </a:pPr>
            <a:r>
              <a:rPr lang="en-US" sz="2200" b="1" dirty="0">
                <a:solidFill>
                  <a:srgbClr val="0E1B2C"/>
                </a:solidFill>
                <a:latin typeface="Cambria" pitchFamily="34" charset="0"/>
                <a:ea typeface="Cambria" pitchFamily="34" charset="-122"/>
                <a:cs typeface="Cambria" pitchFamily="34" charset="-120"/>
              </a:rPr>
              <a:t>Sequential C</a:t>
            </a:r>
            <a:endParaRPr lang="en-US" sz="2200" dirty="0"/>
          </a:p>
        </p:txBody>
      </p:sp>
      <p:sp>
        <p:nvSpPr>
          <p:cNvPr id="10" name="Text 8"/>
          <p:cNvSpPr/>
          <p:nvPr/>
        </p:nvSpPr>
        <p:spPr>
          <a:xfrm>
            <a:off x="731520" y="2331720"/>
            <a:ext cx="3200400" cy="123444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The correctness oracle. Plain nested loops, no threads, no SIMD. Every parallel output is diffed against this.</a:t>
            </a:r>
            <a:endParaRPr lang="en-US" sz="1200" dirty="0"/>
          </a:p>
        </p:txBody>
      </p:sp>
      <p:sp>
        <p:nvSpPr>
          <p:cNvPr id="11" name="Shape 9"/>
          <p:cNvSpPr/>
          <p:nvPr/>
        </p:nvSpPr>
        <p:spPr>
          <a:xfrm>
            <a:off x="4343400" y="1325880"/>
            <a:ext cx="3657600" cy="2331720"/>
          </a:xfrm>
          <a:prstGeom prst="rect">
            <a:avLst/>
          </a:prstGeom>
          <a:solidFill>
            <a:srgbClr val="F5F7FA"/>
          </a:solidFill>
          <a:ln w="12700">
            <a:solidFill>
              <a:srgbClr val="E2E8F0"/>
            </a:solidFill>
            <a:prstDash val="solid"/>
          </a:ln>
        </p:spPr>
      </p:sp>
      <p:sp>
        <p:nvSpPr>
          <p:cNvPr id="12" name="Shape 10"/>
          <p:cNvSpPr/>
          <p:nvPr/>
        </p:nvSpPr>
        <p:spPr>
          <a:xfrm>
            <a:off x="4343400" y="1325880"/>
            <a:ext cx="109728" cy="2331720"/>
          </a:xfrm>
          <a:prstGeom prst="rect">
            <a:avLst/>
          </a:prstGeom>
          <a:solidFill>
            <a:srgbClr val="1C7293"/>
          </a:solidFill>
          <a:ln w="12700">
            <a:solidFill>
              <a:srgbClr val="1C7293"/>
            </a:solidFill>
            <a:prstDash val="solid"/>
          </a:ln>
        </p:spPr>
      </p:sp>
      <p:sp>
        <p:nvSpPr>
          <p:cNvPr id="13" name="Text 11"/>
          <p:cNvSpPr/>
          <p:nvPr/>
        </p:nvSpPr>
        <p:spPr>
          <a:xfrm>
            <a:off x="4617720" y="1508760"/>
            <a:ext cx="3200400" cy="274320"/>
          </a:xfrm>
          <a:prstGeom prst="rect">
            <a:avLst/>
          </a:prstGeom>
          <a:noFill/>
          <a:ln/>
        </p:spPr>
        <p:txBody>
          <a:bodyPr wrap="square" lIns="0" tIns="0" rIns="0" bIns="0" rtlCol="0" anchor="ctr"/>
          <a:lstStyle/>
          <a:p>
            <a:pPr indent="0" marL="0">
              <a:buNone/>
            </a:pPr>
            <a:r>
              <a:rPr lang="en-US" sz="900" b="1" spc="500" kern="0" dirty="0">
                <a:solidFill>
                  <a:srgbClr val="1C7293"/>
                </a:solidFill>
                <a:latin typeface="Calibri" pitchFamily="34" charset="0"/>
                <a:ea typeface="Calibri" pitchFamily="34" charset="-122"/>
                <a:cs typeface="Calibri" pitchFamily="34" charset="-120"/>
              </a:rPr>
              <a:t>SHARED MEMORY</a:t>
            </a:r>
            <a:endParaRPr lang="en-US" sz="900" dirty="0"/>
          </a:p>
        </p:txBody>
      </p:sp>
      <p:sp>
        <p:nvSpPr>
          <p:cNvPr id="14" name="Text 12"/>
          <p:cNvSpPr/>
          <p:nvPr/>
        </p:nvSpPr>
        <p:spPr>
          <a:xfrm>
            <a:off x="4617720" y="1783080"/>
            <a:ext cx="3200400" cy="502920"/>
          </a:xfrm>
          <a:prstGeom prst="rect">
            <a:avLst/>
          </a:prstGeom>
          <a:noFill/>
          <a:ln/>
        </p:spPr>
        <p:txBody>
          <a:bodyPr wrap="square" lIns="0" tIns="0" rIns="0" bIns="0" rtlCol="0" anchor="ctr"/>
          <a:lstStyle/>
          <a:p>
            <a:pPr indent="0" marL="0">
              <a:buNone/>
            </a:pPr>
            <a:r>
              <a:rPr lang="en-US" sz="2200" b="1" dirty="0">
                <a:solidFill>
                  <a:srgbClr val="0E1B2C"/>
                </a:solidFill>
                <a:latin typeface="Cambria" pitchFamily="34" charset="0"/>
                <a:ea typeface="Cambria" pitchFamily="34" charset="-122"/>
                <a:cs typeface="Cambria" pitchFamily="34" charset="-120"/>
              </a:rPr>
              <a:t>OpenMP</a:t>
            </a:r>
            <a:endParaRPr lang="en-US" sz="2200" dirty="0"/>
          </a:p>
        </p:txBody>
      </p:sp>
      <p:sp>
        <p:nvSpPr>
          <p:cNvPr id="15" name="Text 13"/>
          <p:cNvSpPr/>
          <p:nvPr/>
        </p:nvSpPr>
        <p:spPr>
          <a:xfrm>
            <a:off x="4617720" y="2331720"/>
            <a:ext cx="3200400" cy="123444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Lightest touch — one #pragma per outer loop. reduction(max:…) and reduction(+:hist[:256]) handle the tricky cases.</a:t>
            </a:r>
            <a:endParaRPr lang="en-US" sz="1200" dirty="0"/>
          </a:p>
        </p:txBody>
      </p:sp>
      <p:sp>
        <p:nvSpPr>
          <p:cNvPr id="16" name="Shape 14"/>
          <p:cNvSpPr/>
          <p:nvPr/>
        </p:nvSpPr>
        <p:spPr>
          <a:xfrm>
            <a:off x="8229600" y="1325880"/>
            <a:ext cx="3657600" cy="2331720"/>
          </a:xfrm>
          <a:prstGeom prst="rect">
            <a:avLst/>
          </a:prstGeom>
          <a:solidFill>
            <a:srgbClr val="F5F7FA"/>
          </a:solidFill>
          <a:ln w="12700">
            <a:solidFill>
              <a:srgbClr val="E2E8F0"/>
            </a:solidFill>
            <a:prstDash val="solid"/>
          </a:ln>
        </p:spPr>
      </p:sp>
      <p:sp>
        <p:nvSpPr>
          <p:cNvPr id="17" name="Shape 15"/>
          <p:cNvSpPr/>
          <p:nvPr/>
        </p:nvSpPr>
        <p:spPr>
          <a:xfrm>
            <a:off x="8229600" y="1325880"/>
            <a:ext cx="109728" cy="2331720"/>
          </a:xfrm>
          <a:prstGeom prst="rect">
            <a:avLst/>
          </a:prstGeom>
          <a:solidFill>
            <a:srgbClr val="2596BE"/>
          </a:solidFill>
          <a:ln w="12700">
            <a:solidFill>
              <a:srgbClr val="2596BE"/>
            </a:solidFill>
            <a:prstDash val="solid"/>
          </a:ln>
        </p:spPr>
      </p:sp>
      <p:sp>
        <p:nvSpPr>
          <p:cNvPr id="18" name="Text 16"/>
          <p:cNvSpPr/>
          <p:nvPr/>
        </p:nvSpPr>
        <p:spPr>
          <a:xfrm>
            <a:off x="8503920" y="1508760"/>
            <a:ext cx="3200400" cy="274320"/>
          </a:xfrm>
          <a:prstGeom prst="rect">
            <a:avLst/>
          </a:prstGeom>
          <a:noFill/>
          <a:ln/>
        </p:spPr>
        <p:txBody>
          <a:bodyPr wrap="square" lIns="0" tIns="0" rIns="0" bIns="0" rtlCol="0" anchor="ctr"/>
          <a:lstStyle/>
          <a:p>
            <a:pPr indent="0" marL="0">
              <a:buNone/>
            </a:pPr>
            <a:r>
              <a:rPr lang="en-US" sz="900" b="1" spc="500" kern="0" dirty="0">
                <a:solidFill>
                  <a:srgbClr val="2596BE"/>
                </a:solidFill>
                <a:latin typeface="Calibri" pitchFamily="34" charset="0"/>
                <a:ea typeface="Calibri" pitchFamily="34" charset="-122"/>
                <a:cs typeface="Calibri" pitchFamily="34" charset="-120"/>
              </a:rPr>
              <a:t>SHARED MEMORY</a:t>
            </a:r>
            <a:endParaRPr lang="en-US" sz="900" dirty="0"/>
          </a:p>
        </p:txBody>
      </p:sp>
      <p:sp>
        <p:nvSpPr>
          <p:cNvPr id="19" name="Text 17"/>
          <p:cNvSpPr/>
          <p:nvPr/>
        </p:nvSpPr>
        <p:spPr>
          <a:xfrm>
            <a:off x="8503920" y="1783080"/>
            <a:ext cx="3200400" cy="502920"/>
          </a:xfrm>
          <a:prstGeom prst="rect">
            <a:avLst/>
          </a:prstGeom>
          <a:noFill/>
          <a:ln/>
        </p:spPr>
        <p:txBody>
          <a:bodyPr wrap="square" lIns="0" tIns="0" rIns="0" bIns="0" rtlCol="0" anchor="ctr"/>
          <a:lstStyle/>
          <a:p>
            <a:pPr indent="0" marL="0">
              <a:buNone/>
            </a:pPr>
            <a:r>
              <a:rPr lang="en-US" sz="2200" b="1" dirty="0">
                <a:solidFill>
                  <a:srgbClr val="0E1B2C"/>
                </a:solidFill>
                <a:latin typeface="Cambria" pitchFamily="34" charset="0"/>
                <a:ea typeface="Cambria" pitchFamily="34" charset="-122"/>
                <a:cs typeface="Cambria" pitchFamily="34" charset="-120"/>
              </a:rPr>
              <a:t>POSIX Threads</a:t>
            </a:r>
            <a:endParaRPr lang="en-US" sz="2200" dirty="0"/>
          </a:p>
        </p:txBody>
      </p:sp>
      <p:sp>
        <p:nvSpPr>
          <p:cNvPr id="20" name="Text 18"/>
          <p:cNvSpPr/>
          <p:nvPr/>
        </p:nvSpPr>
        <p:spPr>
          <a:xfrm>
            <a:off x="8503920" y="2331720"/>
            <a:ext cx="3200400" cy="123444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Hand-rolled thread pool: mutex + 2 condition variables, work submitted as row-strip task structs. Shows what OpenMP hides.</a:t>
            </a:r>
            <a:endParaRPr lang="en-US" sz="1200" dirty="0"/>
          </a:p>
        </p:txBody>
      </p:sp>
      <p:sp>
        <p:nvSpPr>
          <p:cNvPr id="21" name="Shape 19"/>
          <p:cNvSpPr/>
          <p:nvPr/>
        </p:nvSpPr>
        <p:spPr>
          <a:xfrm>
            <a:off x="2322576" y="3931920"/>
            <a:ext cx="3657600" cy="2331720"/>
          </a:xfrm>
          <a:prstGeom prst="rect">
            <a:avLst/>
          </a:prstGeom>
          <a:solidFill>
            <a:srgbClr val="F5F7FA"/>
          </a:solidFill>
          <a:ln w="12700">
            <a:solidFill>
              <a:srgbClr val="E2E8F0"/>
            </a:solidFill>
            <a:prstDash val="solid"/>
          </a:ln>
        </p:spPr>
      </p:sp>
      <p:sp>
        <p:nvSpPr>
          <p:cNvPr id="22" name="Shape 20"/>
          <p:cNvSpPr/>
          <p:nvPr/>
        </p:nvSpPr>
        <p:spPr>
          <a:xfrm>
            <a:off x="2322576" y="3931920"/>
            <a:ext cx="109728" cy="2331720"/>
          </a:xfrm>
          <a:prstGeom prst="rect">
            <a:avLst/>
          </a:prstGeom>
          <a:solidFill>
            <a:srgbClr val="F4A261"/>
          </a:solidFill>
          <a:ln w="12700">
            <a:solidFill>
              <a:srgbClr val="F4A261"/>
            </a:solidFill>
            <a:prstDash val="solid"/>
          </a:ln>
        </p:spPr>
      </p:sp>
      <p:sp>
        <p:nvSpPr>
          <p:cNvPr id="23" name="Text 21"/>
          <p:cNvSpPr/>
          <p:nvPr/>
        </p:nvSpPr>
        <p:spPr>
          <a:xfrm>
            <a:off x="2596896" y="4114800"/>
            <a:ext cx="3200400" cy="274320"/>
          </a:xfrm>
          <a:prstGeom prst="rect">
            <a:avLst/>
          </a:prstGeom>
          <a:noFill/>
          <a:ln/>
        </p:spPr>
        <p:txBody>
          <a:bodyPr wrap="square" lIns="0" tIns="0" rIns="0" bIns="0" rtlCol="0" anchor="ctr"/>
          <a:lstStyle/>
          <a:p>
            <a:pPr indent="0" marL="0">
              <a:buNone/>
            </a:pPr>
            <a:r>
              <a:rPr lang="en-US" sz="900" b="1" spc="500" kern="0" dirty="0">
                <a:solidFill>
                  <a:srgbClr val="F4A261"/>
                </a:solidFill>
                <a:latin typeface="Calibri" pitchFamily="34" charset="0"/>
                <a:ea typeface="Calibri" pitchFamily="34" charset="-122"/>
                <a:cs typeface="Calibri" pitchFamily="34" charset="-120"/>
              </a:rPr>
              <a:t>DISTRIBUTED MEMORY</a:t>
            </a:r>
            <a:endParaRPr lang="en-US" sz="900" dirty="0"/>
          </a:p>
        </p:txBody>
      </p:sp>
      <p:sp>
        <p:nvSpPr>
          <p:cNvPr id="24" name="Text 22"/>
          <p:cNvSpPr/>
          <p:nvPr/>
        </p:nvSpPr>
        <p:spPr>
          <a:xfrm>
            <a:off x="2596896" y="4389120"/>
            <a:ext cx="3200400" cy="502920"/>
          </a:xfrm>
          <a:prstGeom prst="rect">
            <a:avLst/>
          </a:prstGeom>
          <a:noFill/>
          <a:ln/>
        </p:spPr>
        <p:txBody>
          <a:bodyPr wrap="square" lIns="0" tIns="0" rIns="0" bIns="0" rtlCol="0" anchor="ctr"/>
          <a:lstStyle/>
          <a:p>
            <a:pPr indent="0" marL="0">
              <a:buNone/>
            </a:pPr>
            <a:r>
              <a:rPr lang="en-US" sz="2200" b="1" dirty="0">
                <a:solidFill>
                  <a:srgbClr val="0E1B2C"/>
                </a:solidFill>
                <a:latin typeface="Cambria" pitchFamily="34" charset="0"/>
                <a:ea typeface="Cambria" pitchFamily="34" charset="-122"/>
                <a:cs typeface="Cambria" pitchFamily="34" charset="-120"/>
              </a:rPr>
              <a:t>MPI</a:t>
            </a:r>
            <a:endParaRPr lang="en-US" sz="2200" dirty="0"/>
          </a:p>
        </p:txBody>
      </p:sp>
      <p:sp>
        <p:nvSpPr>
          <p:cNvPr id="25" name="Text 23"/>
          <p:cNvSpPr/>
          <p:nvPr/>
        </p:nvSpPr>
        <p:spPr>
          <a:xfrm>
            <a:off x="2596896" y="4937760"/>
            <a:ext cx="3200400" cy="123444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Image scattered across ranks; halo rows exchanged with neighbours via MPI_Sendrecv; final image gathered on rank 0.</a:t>
            </a:r>
            <a:endParaRPr lang="en-US" sz="1200" dirty="0"/>
          </a:p>
        </p:txBody>
      </p:sp>
      <p:sp>
        <p:nvSpPr>
          <p:cNvPr id="26" name="Shape 24"/>
          <p:cNvSpPr/>
          <p:nvPr/>
        </p:nvSpPr>
        <p:spPr>
          <a:xfrm>
            <a:off x="6208776" y="3931920"/>
            <a:ext cx="3657600" cy="2331720"/>
          </a:xfrm>
          <a:prstGeom prst="rect">
            <a:avLst/>
          </a:prstGeom>
          <a:solidFill>
            <a:srgbClr val="F5F7FA"/>
          </a:solidFill>
          <a:ln w="12700">
            <a:solidFill>
              <a:srgbClr val="E2E8F0"/>
            </a:solidFill>
            <a:prstDash val="solid"/>
          </a:ln>
        </p:spPr>
      </p:sp>
      <p:sp>
        <p:nvSpPr>
          <p:cNvPr id="27" name="Shape 25"/>
          <p:cNvSpPr/>
          <p:nvPr/>
        </p:nvSpPr>
        <p:spPr>
          <a:xfrm>
            <a:off x="6208776" y="3931920"/>
            <a:ext cx="109728" cy="2331720"/>
          </a:xfrm>
          <a:prstGeom prst="rect">
            <a:avLst/>
          </a:prstGeom>
          <a:solidFill>
            <a:srgbClr val="E76F51"/>
          </a:solidFill>
          <a:ln w="12700">
            <a:solidFill>
              <a:srgbClr val="E76F51"/>
            </a:solidFill>
            <a:prstDash val="solid"/>
          </a:ln>
        </p:spPr>
      </p:sp>
      <p:sp>
        <p:nvSpPr>
          <p:cNvPr id="28" name="Text 26"/>
          <p:cNvSpPr/>
          <p:nvPr/>
        </p:nvSpPr>
        <p:spPr>
          <a:xfrm>
            <a:off x="6483096" y="4114800"/>
            <a:ext cx="3200400" cy="274320"/>
          </a:xfrm>
          <a:prstGeom prst="rect">
            <a:avLst/>
          </a:prstGeom>
          <a:noFill/>
          <a:ln/>
        </p:spPr>
        <p:txBody>
          <a:bodyPr wrap="square" lIns="0" tIns="0" rIns="0" bIns="0" rtlCol="0" anchor="ctr"/>
          <a:lstStyle/>
          <a:p>
            <a:pPr indent="0" marL="0">
              <a:buNone/>
            </a:pPr>
            <a:r>
              <a:rPr lang="en-US" sz="900" b="1" spc="500" kern="0" dirty="0">
                <a:solidFill>
                  <a:srgbClr val="E76F51"/>
                </a:solidFill>
                <a:latin typeface="Calibri" pitchFamily="34" charset="0"/>
                <a:ea typeface="Calibri" pitchFamily="34" charset="-122"/>
                <a:cs typeface="Calibri" pitchFamily="34" charset="-120"/>
              </a:rPr>
              <a:t>GPU OFFLOAD</a:t>
            </a:r>
            <a:endParaRPr lang="en-US" sz="900" dirty="0"/>
          </a:p>
        </p:txBody>
      </p:sp>
      <p:sp>
        <p:nvSpPr>
          <p:cNvPr id="29" name="Text 27"/>
          <p:cNvSpPr/>
          <p:nvPr/>
        </p:nvSpPr>
        <p:spPr>
          <a:xfrm>
            <a:off x="6483096" y="4389120"/>
            <a:ext cx="3200400" cy="502920"/>
          </a:xfrm>
          <a:prstGeom prst="rect">
            <a:avLst/>
          </a:prstGeom>
          <a:noFill/>
          <a:ln/>
        </p:spPr>
        <p:txBody>
          <a:bodyPr wrap="square" lIns="0" tIns="0" rIns="0" bIns="0" rtlCol="0" anchor="ctr"/>
          <a:lstStyle/>
          <a:p>
            <a:pPr indent="0" marL="0">
              <a:buNone/>
            </a:pPr>
            <a:r>
              <a:rPr lang="en-US" sz="2200" b="1" dirty="0">
                <a:solidFill>
                  <a:srgbClr val="0E1B2C"/>
                </a:solidFill>
                <a:latin typeface="Cambria" pitchFamily="34" charset="0"/>
                <a:ea typeface="Cambria" pitchFamily="34" charset="-122"/>
                <a:cs typeface="Cambria" pitchFamily="34" charset="-120"/>
              </a:rPr>
              <a:t>CUDA</a:t>
            </a:r>
            <a:endParaRPr lang="en-US" sz="2200" dirty="0"/>
          </a:p>
        </p:txBody>
      </p:sp>
      <p:sp>
        <p:nvSpPr>
          <p:cNvPr id="30" name="Text 28"/>
          <p:cNvSpPr/>
          <p:nvPr/>
        </p:nvSpPr>
        <p:spPr>
          <a:xfrm>
            <a:off x="6483096" y="4937760"/>
            <a:ext cx="3200400" cy="123444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Run on Colab T4. Naive vs tiled blur kernels. Timing split into H2D + kernel + D2H to expose data-movement cost.</a:t>
            </a:r>
            <a:endParaRPr lang="en-US" sz="1200" dirty="0"/>
          </a:p>
        </p:txBody>
      </p:sp>
      <p:sp>
        <p:nvSpPr>
          <p:cNvPr id="31" name="Text 29"/>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32" name="Text 30"/>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Methodology</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How every number in this report was produced</a:t>
            </a:r>
            <a:endParaRPr lang="en-US" sz="1300" dirty="0"/>
          </a:p>
        </p:txBody>
      </p:sp>
      <p:sp>
        <p:nvSpPr>
          <p:cNvPr id="6" name="Shape 4"/>
          <p:cNvSpPr/>
          <p:nvPr/>
        </p:nvSpPr>
        <p:spPr>
          <a:xfrm>
            <a:off x="457200" y="1371600"/>
            <a:ext cx="5486400" cy="3840480"/>
          </a:xfrm>
          <a:prstGeom prst="rect">
            <a:avLst/>
          </a:prstGeom>
          <a:solidFill>
            <a:srgbClr val="F5F7FA"/>
          </a:solidFill>
          <a:ln w="12700">
            <a:solidFill>
              <a:srgbClr val="E2E8F0"/>
            </a:solidFill>
            <a:prstDash val="solid"/>
          </a:ln>
        </p:spPr>
      </p:sp>
      <p:sp>
        <p:nvSpPr>
          <p:cNvPr id="7" name="Text 5"/>
          <p:cNvSpPr/>
          <p:nvPr/>
        </p:nvSpPr>
        <p:spPr>
          <a:xfrm>
            <a:off x="731520" y="1508760"/>
            <a:ext cx="5029200" cy="365760"/>
          </a:xfrm>
          <a:prstGeom prst="rect">
            <a:avLst/>
          </a:prstGeom>
          <a:noFill/>
          <a:ln/>
        </p:spPr>
        <p:txBody>
          <a:bodyPr wrap="square" lIns="0" tIns="0" rIns="0" bIns="0" rtlCol="0" anchor="ctr"/>
          <a:lstStyle/>
          <a:p>
            <a:pPr indent="0" marL="0">
              <a:buNone/>
            </a:pPr>
            <a:r>
              <a:rPr lang="en-US" sz="1100" b="1" spc="600" kern="0" dirty="0">
                <a:solidFill>
                  <a:srgbClr val="1C7293"/>
                </a:solidFill>
                <a:latin typeface="Calibri" pitchFamily="34" charset="0"/>
                <a:ea typeface="Calibri" pitchFamily="34" charset="-122"/>
                <a:cs typeface="Calibri" pitchFamily="34" charset="-120"/>
              </a:rPr>
              <a:t>⏱   TIMING</a:t>
            </a:r>
            <a:endParaRPr lang="en-US" sz="1100" dirty="0"/>
          </a:p>
        </p:txBody>
      </p:sp>
      <p:sp>
        <p:nvSpPr>
          <p:cNvPr id="8" name="Text 6"/>
          <p:cNvSpPr/>
          <p:nvPr/>
        </p:nvSpPr>
        <p:spPr>
          <a:xfrm>
            <a:off x="731520" y="1828800"/>
            <a:ext cx="5029200" cy="457200"/>
          </a:xfrm>
          <a:prstGeom prst="rect">
            <a:avLst/>
          </a:prstGeom>
          <a:noFill/>
          <a:ln/>
        </p:spPr>
        <p:txBody>
          <a:bodyPr wrap="square" lIns="0" tIns="0" rIns="0" bIns="0" rtlCol="0" anchor="ctr"/>
          <a:lstStyle/>
          <a:p>
            <a:pPr indent="0" marL="0">
              <a:buNone/>
            </a:pPr>
            <a:r>
              <a:rPr lang="en-US" sz="1800" b="1" dirty="0">
                <a:solidFill>
                  <a:srgbClr val="0E1B2C"/>
                </a:solidFill>
                <a:latin typeface="Cambria" pitchFamily="34" charset="0"/>
                <a:ea typeface="Cambria" pitchFamily="34" charset="-122"/>
                <a:cs typeface="Cambria" pitchFamily="34" charset="-120"/>
              </a:rPr>
              <a:t>Same routine in every paradigm</a:t>
            </a:r>
            <a:endParaRPr lang="en-US" sz="1800" dirty="0"/>
          </a:p>
        </p:txBody>
      </p:sp>
      <p:sp>
        <p:nvSpPr>
          <p:cNvPr id="9" name="Text 7"/>
          <p:cNvSpPr/>
          <p:nvPr/>
        </p:nvSpPr>
        <p:spPr>
          <a:xfrm>
            <a:off x="731520" y="2468880"/>
            <a:ext cx="5029200" cy="2651760"/>
          </a:xfrm>
          <a:prstGeom prst="rect">
            <a:avLst/>
          </a:prstGeom>
          <a:noFill/>
          <a:ln/>
        </p:spPr>
        <p:txBody>
          <a:bodyPr wrap="square" rtlCol="0" anchor="t"/>
          <a:lstStyle/>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2 warm-up runs to absorb cache &amp; disk effects</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5 timed runs → mean, std-dev, min, max into all.csv</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Image I/O excluded — only the filter is measured</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CUDA additionally records H2D, kernel, D2H separately</a:t>
            </a:r>
            <a:endParaRPr lang="en-US" sz="1300" dirty="0"/>
          </a:p>
        </p:txBody>
      </p:sp>
      <p:sp>
        <p:nvSpPr>
          <p:cNvPr id="10" name="Shape 8"/>
          <p:cNvSpPr/>
          <p:nvPr/>
        </p:nvSpPr>
        <p:spPr>
          <a:xfrm>
            <a:off x="6355080" y="1371600"/>
            <a:ext cx="5486400" cy="3840480"/>
          </a:xfrm>
          <a:prstGeom prst="rect">
            <a:avLst/>
          </a:prstGeom>
          <a:solidFill>
            <a:srgbClr val="F5F7FA"/>
          </a:solidFill>
          <a:ln w="12700">
            <a:solidFill>
              <a:srgbClr val="E2E8F0"/>
            </a:solidFill>
            <a:prstDash val="solid"/>
          </a:ln>
        </p:spPr>
      </p:sp>
      <p:sp>
        <p:nvSpPr>
          <p:cNvPr id="11" name="Text 9"/>
          <p:cNvSpPr/>
          <p:nvPr/>
        </p:nvSpPr>
        <p:spPr>
          <a:xfrm>
            <a:off x="6629400" y="1508760"/>
            <a:ext cx="5029200" cy="365760"/>
          </a:xfrm>
          <a:prstGeom prst="rect">
            <a:avLst/>
          </a:prstGeom>
          <a:noFill/>
          <a:ln/>
        </p:spPr>
        <p:txBody>
          <a:bodyPr wrap="square" lIns="0" tIns="0" rIns="0" bIns="0" rtlCol="0" anchor="ctr"/>
          <a:lstStyle/>
          <a:p>
            <a:pPr indent="0" marL="0">
              <a:buNone/>
            </a:pPr>
            <a:r>
              <a:rPr lang="en-US" sz="1100" b="1" spc="600" kern="0" dirty="0">
                <a:solidFill>
                  <a:srgbClr val="1C7293"/>
                </a:solidFill>
                <a:latin typeface="Calibri" pitchFamily="34" charset="0"/>
                <a:ea typeface="Calibri" pitchFamily="34" charset="-122"/>
                <a:cs typeface="Calibri" pitchFamily="34" charset="-120"/>
              </a:rPr>
              <a:t>✓   CORRECTNESS</a:t>
            </a:r>
            <a:endParaRPr lang="en-US" sz="1100" dirty="0"/>
          </a:p>
        </p:txBody>
      </p:sp>
      <p:sp>
        <p:nvSpPr>
          <p:cNvPr id="12" name="Text 10"/>
          <p:cNvSpPr/>
          <p:nvPr/>
        </p:nvSpPr>
        <p:spPr>
          <a:xfrm>
            <a:off x="6629400" y="1828800"/>
            <a:ext cx="5029200" cy="457200"/>
          </a:xfrm>
          <a:prstGeom prst="rect">
            <a:avLst/>
          </a:prstGeom>
          <a:noFill/>
          <a:ln/>
        </p:spPr>
        <p:txBody>
          <a:bodyPr wrap="square" lIns="0" tIns="0" rIns="0" bIns="0" rtlCol="0" anchor="ctr"/>
          <a:lstStyle/>
          <a:p>
            <a:pPr indent="0" marL="0">
              <a:buNone/>
            </a:pPr>
            <a:r>
              <a:rPr lang="en-US" sz="1800" b="1" dirty="0">
                <a:solidFill>
                  <a:srgbClr val="0E1B2C"/>
                </a:solidFill>
                <a:latin typeface="Cambria" pitchFamily="34" charset="0"/>
                <a:ea typeface="Cambria" pitchFamily="34" charset="-122"/>
                <a:cs typeface="Cambria" pitchFamily="34" charset="-120"/>
              </a:rPr>
              <a:t>Two checks, used together</a:t>
            </a:r>
            <a:endParaRPr lang="en-US" sz="1800" dirty="0"/>
          </a:p>
        </p:txBody>
      </p:sp>
      <p:sp>
        <p:nvSpPr>
          <p:cNvPr id="13" name="Text 11"/>
          <p:cNvSpPr/>
          <p:nvPr/>
        </p:nvSpPr>
        <p:spPr>
          <a:xfrm>
            <a:off x="6629400" y="2468880"/>
            <a:ext cx="5029200" cy="2651760"/>
          </a:xfrm>
          <a:prstGeom prst="rect">
            <a:avLst/>
          </a:prstGeom>
          <a:noFill/>
          <a:ln/>
        </p:spPr>
        <p:txBody>
          <a:bodyPr wrap="square" rtlCol="0" anchor="t"/>
          <a:lstStyle/>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PSNR vs sequential reference must exceed 40 dB</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Max per-pixel difference must be ≤ 2.0 grey levels</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Both — because PSNR alone hides bad strip boundaries</a:t>
            </a:r>
            <a:endParaRPr lang="en-US" sz="1300" dirty="0"/>
          </a:p>
          <a:p>
            <a:pPr marL="342900" indent="-342900">
              <a:spcAft>
                <a:spcPts val="600"/>
              </a:spcAft>
              <a:buSzPct val="100000"/>
              <a:buChar char="▪"/>
            </a:pPr>
            <a:r>
              <a:rPr lang="en-US" sz="1300" dirty="0">
                <a:solidFill>
                  <a:srgbClr val="1A2332"/>
                </a:solidFill>
                <a:latin typeface="Calibri" pitchFamily="34" charset="0"/>
                <a:ea typeface="Calibri" pitchFamily="34" charset="-122"/>
                <a:cs typeface="Calibri" pitchFamily="34" charset="-120"/>
              </a:rPr>
              <a:t>Validated for every paradigm × thread-count × filter</a:t>
            </a:r>
            <a:endParaRPr lang="en-US" sz="1300" dirty="0"/>
          </a:p>
        </p:txBody>
      </p:sp>
      <p:sp>
        <p:nvSpPr>
          <p:cNvPr id="14" name="Shape 12"/>
          <p:cNvSpPr/>
          <p:nvPr/>
        </p:nvSpPr>
        <p:spPr>
          <a:xfrm>
            <a:off x="457200" y="5486400"/>
            <a:ext cx="11247120" cy="868680"/>
          </a:xfrm>
          <a:prstGeom prst="rect">
            <a:avLst/>
          </a:prstGeom>
          <a:solidFill>
            <a:srgbClr val="0E1B2C"/>
          </a:solidFill>
          <a:ln w="12700">
            <a:solidFill>
              <a:srgbClr val="0E1B2C"/>
            </a:solidFill>
            <a:prstDash val="solid"/>
          </a:ln>
        </p:spPr>
      </p:sp>
      <p:sp>
        <p:nvSpPr>
          <p:cNvPr id="15" name="Text 13"/>
          <p:cNvSpPr/>
          <p:nvPr/>
        </p:nvSpPr>
        <p:spPr>
          <a:xfrm>
            <a:off x="457200" y="5486400"/>
            <a:ext cx="1124712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All 100 CPU outputs </a:t>
            </a:r>
            <a:pPr algn="ctr" indent="0" marL="0">
              <a:buNone/>
            </a:pPr>
            <a:r>
              <a:rPr lang="en-US" sz="1800" b="1" dirty="0">
                <a:solidFill>
                  <a:srgbClr val="F4A261"/>
                </a:solidFill>
                <a:latin typeface="Cambria" pitchFamily="34" charset="0"/>
                <a:ea typeface="Cambria" pitchFamily="34" charset="-122"/>
                <a:cs typeface="Cambria" pitchFamily="34" charset="-120"/>
              </a:rPr>
              <a:t>bit-identical </a:t>
            </a:r>
            <a:pPr algn="ctr" indent="0" marL="0">
              <a:buNone/>
            </a:pPr>
            <a:r>
              <a:rPr lang="en-US" sz="1800" dirty="0">
                <a:solidFill>
                  <a:srgbClr val="FFFFFF"/>
                </a:solidFill>
                <a:latin typeface="Cambria" pitchFamily="34" charset="0"/>
                <a:ea typeface="Cambria" pitchFamily="34" charset="-122"/>
                <a:cs typeface="Cambria" pitchFamily="34" charset="-120"/>
              </a:rPr>
              <a:t>to the sequential reference   </a:t>
            </a:r>
            <a:pPr algn="ctr" indent="0" marL="0">
              <a:buNone/>
            </a:pPr>
            <a:r>
              <a:rPr lang="en-US" sz="1400" i="1" dirty="0">
                <a:solidFill>
                  <a:srgbClr val="A8B5CB"/>
                </a:solidFill>
                <a:latin typeface="Cambria" pitchFamily="34" charset="0"/>
                <a:ea typeface="Cambria" pitchFamily="34" charset="-122"/>
                <a:cs typeface="Cambria" pitchFamily="34" charset="-120"/>
              </a:rPr>
              <a:t>(PSNR = ∞, maxDiff = 0)</a:t>
            </a:r>
            <a:endParaRPr lang="en-US" sz="1800" dirty="0"/>
          </a:p>
        </p:txBody>
      </p:sp>
      <p:sp>
        <p:nvSpPr>
          <p:cNvPr id="16" name="Text 14"/>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17" name="Text 15"/>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Wall-clock per Filter</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Plot 01 — every paradigm sweeping over thread/rank count, log-log, lower is better</a:t>
            </a:r>
            <a:endParaRPr lang="en-US" sz="1300" dirty="0"/>
          </a:p>
        </p:txBody>
      </p:sp>
      <p:pic>
        <p:nvPicPr>
          <p:cNvPr id="6" name="Image 0" descr="/home/claude/images/plot01_wallclock.png">    </p:cNvPr>
          <p:cNvPicPr>
            <a:picLocks noChangeAspect="1"/>
          </p:cNvPicPr>
          <p:nvPr/>
        </p:nvPicPr>
        <p:blipFill>
          <a:blip r:embed="rId1"/>
          <a:stretch>
            <a:fillRect/>
          </a:stretch>
        </p:blipFill>
        <p:spPr>
          <a:xfrm>
            <a:off x="365760" y="1417320"/>
            <a:ext cx="11430000" cy="2414016"/>
          </a:xfrm>
          <a:prstGeom prst="rect">
            <a:avLst/>
          </a:prstGeom>
        </p:spPr>
      </p:pic>
      <p:sp>
        <p:nvSpPr>
          <p:cNvPr id="7" name="Text 4"/>
          <p:cNvSpPr/>
          <p:nvPr/>
        </p:nvSpPr>
        <p:spPr>
          <a:xfrm>
            <a:off x="365760" y="3886200"/>
            <a:ext cx="114300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Each panel is one filter; each line is one paradigm. Dashed black line is the CUDA T4 result.</a:t>
            </a:r>
            <a:endParaRPr lang="en-US" sz="1100" dirty="0"/>
          </a:p>
        </p:txBody>
      </p:sp>
      <p:sp>
        <p:nvSpPr>
          <p:cNvPr id="8" name="Shape 5"/>
          <p:cNvSpPr/>
          <p:nvPr/>
        </p:nvSpPr>
        <p:spPr>
          <a:xfrm>
            <a:off x="566928" y="4434840"/>
            <a:ext cx="3520440" cy="1691640"/>
          </a:xfrm>
          <a:prstGeom prst="rect">
            <a:avLst/>
          </a:prstGeom>
          <a:solidFill>
            <a:srgbClr val="F5F7FA"/>
          </a:solidFill>
          <a:ln w="12700">
            <a:solidFill>
              <a:srgbClr val="E2E8F0"/>
            </a:solidFill>
            <a:prstDash val="solid"/>
          </a:ln>
        </p:spPr>
      </p:sp>
      <p:sp>
        <p:nvSpPr>
          <p:cNvPr id="9" name="Shape 6"/>
          <p:cNvSpPr/>
          <p:nvPr/>
        </p:nvSpPr>
        <p:spPr>
          <a:xfrm>
            <a:off x="566928" y="4434840"/>
            <a:ext cx="91440" cy="1691640"/>
          </a:xfrm>
          <a:prstGeom prst="rect">
            <a:avLst/>
          </a:prstGeom>
          <a:solidFill>
            <a:srgbClr val="1C7293"/>
          </a:solidFill>
          <a:ln w="12700">
            <a:solidFill>
              <a:srgbClr val="1C7293"/>
            </a:solidFill>
            <a:prstDash val="solid"/>
          </a:ln>
        </p:spPr>
      </p:sp>
      <p:sp>
        <p:nvSpPr>
          <p:cNvPr id="10" name="Text 7"/>
          <p:cNvSpPr/>
          <p:nvPr/>
        </p:nvSpPr>
        <p:spPr>
          <a:xfrm>
            <a:off x="795528" y="4617720"/>
            <a:ext cx="3108960" cy="457200"/>
          </a:xfrm>
          <a:prstGeom prst="rect">
            <a:avLst/>
          </a:prstGeom>
          <a:noFill/>
          <a:ln/>
        </p:spPr>
        <p:txBody>
          <a:bodyPr wrap="square" lIns="0" tIns="0" rIns="0" bIns="0" rtlCol="0" anchor="ctr"/>
          <a:lstStyle/>
          <a:p>
            <a:pPr indent="0" marL="0">
              <a:buNone/>
            </a:pPr>
            <a:r>
              <a:rPr lang="en-US" sz="1300" b="1" dirty="0">
                <a:solidFill>
                  <a:srgbClr val="0E1B2C"/>
                </a:solidFill>
                <a:latin typeface="Cambria" pitchFamily="34" charset="0"/>
                <a:ea typeface="Cambria" pitchFamily="34" charset="-122"/>
                <a:cs typeface="Cambria" pitchFamily="34" charset="-120"/>
              </a:rPr>
              <a:t>Every paradigm beats sequential decisively</a:t>
            </a:r>
            <a:endParaRPr lang="en-US" sz="1300" dirty="0"/>
          </a:p>
        </p:txBody>
      </p:sp>
      <p:sp>
        <p:nvSpPr>
          <p:cNvPr id="11" name="Text 8"/>
          <p:cNvSpPr/>
          <p:nvPr/>
        </p:nvSpPr>
        <p:spPr>
          <a:xfrm>
            <a:off x="795528" y="5120640"/>
            <a:ext cx="3108960" cy="9144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On most filters, all paradigms converge to roughly the same wall-clock at 4 threads (the physical core count).</a:t>
            </a:r>
            <a:endParaRPr lang="en-US" sz="1100" dirty="0"/>
          </a:p>
        </p:txBody>
      </p:sp>
      <p:sp>
        <p:nvSpPr>
          <p:cNvPr id="12" name="Shape 9"/>
          <p:cNvSpPr/>
          <p:nvPr/>
        </p:nvSpPr>
        <p:spPr>
          <a:xfrm>
            <a:off x="4334256" y="4434840"/>
            <a:ext cx="3520440" cy="1691640"/>
          </a:xfrm>
          <a:prstGeom prst="rect">
            <a:avLst/>
          </a:prstGeom>
          <a:solidFill>
            <a:srgbClr val="F5F7FA"/>
          </a:solidFill>
          <a:ln w="12700">
            <a:solidFill>
              <a:srgbClr val="E2E8F0"/>
            </a:solidFill>
            <a:prstDash val="solid"/>
          </a:ln>
        </p:spPr>
      </p:sp>
      <p:sp>
        <p:nvSpPr>
          <p:cNvPr id="13" name="Shape 10"/>
          <p:cNvSpPr/>
          <p:nvPr/>
        </p:nvSpPr>
        <p:spPr>
          <a:xfrm>
            <a:off x="4334256" y="4434840"/>
            <a:ext cx="91440" cy="1691640"/>
          </a:xfrm>
          <a:prstGeom prst="rect">
            <a:avLst/>
          </a:prstGeom>
          <a:solidFill>
            <a:srgbClr val="1C7293"/>
          </a:solidFill>
          <a:ln w="12700">
            <a:solidFill>
              <a:srgbClr val="1C7293"/>
            </a:solidFill>
            <a:prstDash val="solid"/>
          </a:ln>
        </p:spPr>
      </p:sp>
      <p:sp>
        <p:nvSpPr>
          <p:cNvPr id="14" name="Text 11"/>
          <p:cNvSpPr/>
          <p:nvPr/>
        </p:nvSpPr>
        <p:spPr>
          <a:xfrm>
            <a:off x="4562856" y="4617720"/>
            <a:ext cx="3108960" cy="457200"/>
          </a:xfrm>
          <a:prstGeom prst="rect">
            <a:avLst/>
          </a:prstGeom>
          <a:noFill/>
          <a:ln/>
        </p:spPr>
        <p:txBody>
          <a:bodyPr wrap="square" lIns="0" tIns="0" rIns="0" bIns="0" rtlCol="0" anchor="ctr"/>
          <a:lstStyle/>
          <a:p>
            <a:pPr indent="0" marL="0">
              <a:buNone/>
            </a:pPr>
            <a:r>
              <a:rPr lang="en-US" sz="1300" b="1" dirty="0">
                <a:solidFill>
                  <a:srgbClr val="0E1B2C"/>
                </a:solidFill>
                <a:latin typeface="Cambria" pitchFamily="34" charset="0"/>
                <a:ea typeface="Cambria" pitchFamily="34" charset="-122"/>
                <a:cs typeface="Cambria" pitchFamily="34" charset="-120"/>
              </a:rPr>
              <a:t>CUDA is roughly an order of magnitude faster</a:t>
            </a:r>
            <a:endParaRPr lang="en-US" sz="1300" dirty="0"/>
          </a:p>
        </p:txBody>
      </p:sp>
      <p:sp>
        <p:nvSpPr>
          <p:cNvPr id="15" name="Text 12"/>
          <p:cNvSpPr/>
          <p:nvPr/>
        </p:nvSpPr>
        <p:spPr>
          <a:xfrm>
            <a:off x="4562856" y="5120640"/>
            <a:ext cx="3108960" cy="9144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The T4 dominates raw compute, but most of that gap is data-movement, not arithmetic — see Plot 03.</a:t>
            </a:r>
            <a:endParaRPr lang="en-US" sz="1100" dirty="0"/>
          </a:p>
        </p:txBody>
      </p:sp>
      <p:sp>
        <p:nvSpPr>
          <p:cNvPr id="16" name="Shape 13"/>
          <p:cNvSpPr/>
          <p:nvPr/>
        </p:nvSpPr>
        <p:spPr>
          <a:xfrm>
            <a:off x="8101584" y="4434840"/>
            <a:ext cx="3520440" cy="1691640"/>
          </a:xfrm>
          <a:prstGeom prst="rect">
            <a:avLst/>
          </a:prstGeom>
          <a:solidFill>
            <a:srgbClr val="F5F7FA"/>
          </a:solidFill>
          <a:ln w="12700">
            <a:solidFill>
              <a:srgbClr val="E2E8F0"/>
            </a:solidFill>
            <a:prstDash val="solid"/>
          </a:ln>
        </p:spPr>
      </p:sp>
      <p:sp>
        <p:nvSpPr>
          <p:cNvPr id="17" name="Shape 14"/>
          <p:cNvSpPr/>
          <p:nvPr/>
        </p:nvSpPr>
        <p:spPr>
          <a:xfrm>
            <a:off x="8101584" y="4434840"/>
            <a:ext cx="91440" cy="1691640"/>
          </a:xfrm>
          <a:prstGeom prst="rect">
            <a:avLst/>
          </a:prstGeom>
          <a:solidFill>
            <a:srgbClr val="1C7293"/>
          </a:solidFill>
          <a:ln w="12700">
            <a:solidFill>
              <a:srgbClr val="1C7293"/>
            </a:solidFill>
            <a:prstDash val="solid"/>
          </a:ln>
        </p:spPr>
      </p:sp>
      <p:sp>
        <p:nvSpPr>
          <p:cNvPr id="18" name="Text 15"/>
          <p:cNvSpPr/>
          <p:nvPr/>
        </p:nvSpPr>
        <p:spPr>
          <a:xfrm>
            <a:off x="8330184" y="4617720"/>
            <a:ext cx="3108960" cy="457200"/>
          </a:xfrm>
          <a:prstGeom prst="rect">
            <a:avLst/>
          </a:prstGeom>
          <a:noFill/>
          <a:ln/>
        </p:spPr>
        <p:txBody>
          <a:bodyPr wrap="square" lIns="0" tIns="0" rIns="0" bIns="0" rtlCol="0" anchor="ctr"/>
          <a:lstStyle/>
          <a:p>
            <a:pPr indent="0" marL="0">
              <a:buNone/>
            </a:pPr>
            <a:r>
              <a:rPr lang="en-US" sz="1300" b="1" dirty="0">
                <a:solidFill>
                  <a:srgbClr val="0E1B2C"/>
                </a:solidFill>
                <a:latin typeface="Cambria" pitchFamily="34" charset="0"/>
                <a:ea typeface="Cambria" pitchFamily="34" charset="-122"/>
                <a:cs typeface="Cambria" pitchFamily="34" charset="-120"/>
              </a:rPr>
              <a:t>Sequential (orange) is the slow ceiling</a:t>
            </a:r>
            <a:endParaRPr lang="en-US" sz="1300" dirty="0"/>
          </a:p>
        </p:txBody>
      </p:sp>
      <p:sp>
        <p:nvSpPr>
          <p:cNvPr id="19" name="Text 16"/>
          <p:cNvSpPr/>
          <p:nvPr/>
        </p:nvSpPr>
        <p:spPr>
          <a:xfrm>
            <a:off x="8330184" y="5120640"/>
            <a:ext cx="3108960" cy="91440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It does not move with thread count. It is the baseline every speedup is measured against.</a:t>
            </a:r>
            <a:endParaRPr lang="en-US" sz="1100" dirty="0"/>
          </a:p>
        </p:txBody>
      </p:sp>
      <p:sp>
        <p:nvSpPr>
          <p:cNvPr id="20" name="Text 17"/>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21" name="Text 18"/>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Speedup Curves</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Plot 02 — speedup vs each paradigm's own 1-thread baseline; dotted line = ideal linear</a:t>
            </a:r>
            <a:endParaRPr lang="en-US" sz="1300" dirty="0"/>
          </a:p>
        </p:txBody>
      </p:sp>
      <p:pic>
        <p:nvPicPr>
          <p:cNvPr id="6" name="Image 0" descr="/home/claude/images/plot02_speedup.png">    </p:cNvPr>
          <p:cNvPicPr>
            <a:picLocks noChangeAspect="1"/>
          </p:cNvPicPr>
          <p:nvPr/>
        </p:nvPicPr>
        <p:blipFill>
          <a:blip r:embed="rId1"/>
          <a:stretch>
            <a:fillRect/>
          </a:stretch>
        </p:blipFill>
        <p:spPr>
          <a:xfrm>
            <a:off x="365760" y="1417320"/>
            <a:ext cx="11430000" cy="2414016"/>
          </a:xfrm>
          <a:prstGeom prst="rect">
            <a:avLst/>
          </a:prstGeom>
        </p:spPr>
      </p:pic>
      <p:sp>
        <p:nvSpPr>
          <p:cNvPr id="7" name="Text 4"/>
          <p:cNvSpPr/>
          <p:nvPr/>
        </p:nvSpPr>
        <p:spPr>
          <a:xfrm>
            <a:off x="365760" y="3886200"/>
            <a:ext cx="114300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Above 1.0 = real gain. The dotted line is theoretical ideal speedup (2 threads = 2×, etc.).</a:t>
            </a:r>
            <a:endParaRPr lang="en-US" sz="1100" dirty="0"/>
          </a:p>
        </p:txBody>
      </p:sp>
      <p:sp>
        <p:nvSpPr>
          <p:cNvPr id="8" name="Shape 5"/>
          <p:cNvSpPr/>
          <p:nvPr/>
        </p:nvSpPr>
        <p:spPr>
          <a:xfrm>
            <a:off x="457200" y="4434840"/>
            <a:ext cx="5029200" cy="1691640"/>
          </a:xfrm>
          <a:prstGeom prst="rect">
            <a:avLst/>
          </a:prstGeom>
          <a:solidFill>
            <a:srgbClr val="0E1B2C"/>
          </a:solidFill>
          <a:ln w="12700">
            <a:solidFill>
              <a:srgbClr val="0E1B2C"/>
            </a:solidFill>
            <a:prstDash val="solid"/>
          </a:ln>
        </p:spPr>
      </p:sp>
      <p:sp>
        <p:nvSpPr>
          <p:cNvPr id="9" name="Text 6"/>
          <p:cNvSpPr/>
          <p:nvPr/>
        </p:nvSpPr>
        <p:spPr>
          <a:xfrm>
            <a:off x="457200" y="4572000"/>
            <a:ext cx="5029200" cy="914400"/>
          </a:xfrm>
          <a:prstGeom prst="rect">
            <a:avLst/>
          </a:prstGeom>
          <a:noFill/>
          <a:ln/>
        </p:spPr>
        <p:txBody>
          <a:bodyPr wrap="square" lIns="0" tIns="0" rIns="0" bIns="0" rtlCol="0" anchor="ctr"/>
          <a:lstStyle/>
          <a:p>
            <a:pPr algn="ctr" indent="0" marL="0">
              <a:buNone/>
            </a:pPr>
            <a:r>
              <a:rPr lang="en-US" sz="6000" b="1" dirty="0">
                <a:solidFill>
                  <a:srgbClr val="F4A261"/>
                </a:solidFill>
                <a:latin typeface="Cambria" pitchFamily="34" charset="0"/>
                <a:ea typeface="Cambria" pitchFamily="34" charset="-122"/>
                <a:cs typeface="Cambria" pitchFamily="34" charset="-120"/>
              </a:rPr>
              <a:t>5–6×</a:t>
            </a:r>
            <a:endParaRPr lang="en-US" sz="6000" dirty="0"/>
          </a:p>
        </p:txBody>
      </p:sp>
      <p:sp>
        <p:nvSpPr>
          <p:cNvPr id="10" name="Text 7"/>
          <p:cNvSpPr/>
          <p:nvPr/>
        </p:nvSpPr>
        <p:spPr>
          <a:xfrm>
            <a:off x="457200" y="5532120"/>
            <a:ext cx="5029200" cy="45720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best speedup at 8 threads on a 4-core CPU</a:t>
            </a:r>
            <a:endParaRPr lang="en-US" sz="1300" dirty="0"/>
          </a:p>
        </p:txBody>
      </p:sp>
      <p:sp>
        <p:nvSpPr>
          <p:cNvPr id="11" name="Shape 8"/>
          <p:cNvSpPr/>
          <p:nvPr/>
        </p:nvSpPr>
        <p:spPr>
          <a:xfrm>
            <a:off x="5760720" y="4434840"/>
            <a:ext cx="5943600" cy="1691640"/>
          </a:xfrm>
          <a:prstGeom prst="rect">
            <a:avLst/>
          </a:prstGeom>
          <a:solidFill>
            <a:srgbClr val="F5F7FA"/>
          </a:solidFill>
          <a:ln w="12700">
            <a:solidFill>
              <a:srgbClr val="E2E8F0"/>
            </a:solidFill>
            <a:prstDash val="solid"/>
          </a:ln>
        </p:spPr>
      </p:sp>
      <p:sp>
        <p:nvSpPr>
          <p:cNvPr id="12" name="Text 9"/>
          <p:cNvSpPr/>
          <p:nvPr/>
        </p:nvSpPr>
        <p:spPr>
          <a:xfrm>
            <a:off x="5943600" y="4572000"/>
            <a:ext cx="5577840" cy="365760"/>
          </a:xfrm>
          <a:prstGeom prst="rect">
            <a:avLst/>
          </a:prstGeom>
          <a:noFill/>
          <a:ln/>
        </p:spPr>
        <p:txBody>
          <a:bodyPr wrap="square" lIns="0" tIns="0" rIns="0" bIns="0" rtlCol="0" anchor="ctr"/>
          <a:lstStyle/>
          <a:p>
            <a:pPr indent="0" marL="0">
              <a:buNone/>
            </a:pPr>
            <a:r>
              <a:rPr lang="en-US" sz="1400" b="1" dirty="0">
                <a:solidFill>
                  <a:srgbClr val="0E1B2C"/>
                </a:solidFill>
                <a:latin typeface="Cambria" pitchFamily="34" charset="0"/>
                <a:ea typeface="Cambria" pitchFamily="34" charset="-122"/>
                <a:cs typeface="Cambria" pitchFamily="34" charset="-120"/>
              </a:rPr>
              <a:t>Why the curves bend below ideal</a:t>
            </a:r>
            <a:endParaRPr lang="en-US" sz="1400" dirty="0"/>
          </a:p>
        </p:txBody>
      </p:sp>
      <p:sp>
        <p:nvSpPr>
          <p:cNvPr id="13" name="Text 10"/>
          <p:cNvSpPr/>
          <p:nvPr/>
        </p:nvSpPr>
        <p:spPr>
          <a:xfrm>
            <a:off x="5943600" y="4937760"/>
            <a:ext cx="5577840" cy="1143000"/>
          </a:xfrm>
          <a:prstGeom prst="rect">
            <a:avLst/>
          </a:prstGeom>
          <a:noFill/>
          <a:ln/>
        </p:spPr>
        <p:txBody>
          <a:bodyPr wrap="square" rtlCol="0" anchor="t"/>
          <a:lstStyle/>
          <a:p>
            <a:pPr marL="342900" indent="-342900">
              <a:spcAft>
                <a:spcPts val="600"/>
              </a:spcAft>
              <a:buSzPct val="100000"/>
              <a:buChar char="▪"/>
            </a:pPr>
            <a:r>
              <a:rPr lang="en-US" sz="1100" dirty="0">
                <a:solidFill>
                  <a:srgbClr val="1A2332"/>
                </a:solidFill>
                <a:latin typeface="Calibri" pitchFamily="34" charset="0"/>
                <a:ea typeface="Calibri" pitchFamily="34" charset="-122"/>
                <a:cs typeface="Calibri" pitchFamily="34" charset="-120"/>
              </a:rPr>
              <a:t>Communication, synchronisation, memory bandwidth</a:t>
            </a:r>
            <a:endParaRPr lang="en-US" sz="1100" dirty="0"/>
          </a:p>
          <a:p>
            <a:pPr marL="342900" indent="-342900">
              <a:spcAft>
                <a:spcPts val="600"/>
              </a:spcAft>
              <a:buSzPct val="100000"/>
              <a:buChar char="▪"/>
            </a:pPr>
            <a:r>
              <a:rPr lang="en-US" sz="1100" dirty="0">
                <a:solidFill>
                  <a:srgbClr val="1A2332"/>
                </a:solidFill>
                <a:latin typeface="Calibri" pitchFamily="34" charset="0"/>
                <a:ea typeface="Calibri" pitchFamily="34" charset="-122"/>
                <a:cs typeface="Calibri" pitchFamily="34" charset="-120"/>
              </a:rPr>
              <a:t>Amdahl's Law: serial fraction caps speedup</a:t>
            </a:r>
            <a:endParaRPr lang="en-US" sz="1100" dirty="0"/>
          </a:p>
          <a:p>
            <a:pPr marL="342900" indent="-342900">
              <a:spcAft>
                <a:spcPts val="600"/>
              </a:spcAft>
              <a:buSzPct val="100000"/>
              <a:buChar char="▪"/>
            </a:pPr>
            <a:r>
              <a:rPr lang="en-US" sz="1100" dirty="0">
                <a:solidFill>
                  <a:srgbClr val="1A2332"/>
                </a:solidFill>
                <a:latin typeface="Calibri" pitchFamily="34" charset="0"/>
                <a:ea typeface="Calibri" pitchFamily="34" charset="-122"/>
                <a:cs typeface="Calibri" pitchFamily="34" charset="-120"/>
              </a:rPr>
              <a:t>Past 4 threads: hyper-threading gives diminishing returns</a:t>
            </a:r>
            <a:endParaRPr lang="en-US" sz="1100" dirty="0"/>
          </a:p>
          <a:p>
            <a:pPr marL="342900" indent="-342900">
              <a:spcAft>
                <a:spcPts val="600"/>
              </a:spcAft>
              <a:buSzPct val="100000"/>
              <a:buChar char="▪"/>
            </a:pPr>
            <a:r>
              <a:rPr lang="en-US" sz="1100" dirty="0">
                <a:solidFill>
                  <a:srgbClr val="1A2332"/>
                </a:solidFill>
                <a:latin typeface="Calibri" pitchFamily="34" charset="0"/>
                <a:ea typeface="Calibri" pitchFamily="34" charset="-122"/>
                <a:cs typeface="Calibri" pitchFamily="34" charset="-120"/>
              </a:rPr>
              <a:t>MPI flattens hardest — oversubscribing wastes effort on context switches</a:t>
            </a:r>
            <a:endParaRPr lang="en-US" sz="1100" dirty="0"/>
          </a:p>
        </p:txBody>
      </p:sp>
      <p:sp>
        <p:nvSpPr>
          <p:cNvPr id="14" name="Text 11"/>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15" name="Text 12"/>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CUDA Timing Breakdown</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Plot 03 — H2D + Kernel + D2H per filter on the T4 GPU</a:t>
            </a:r>
            <a:endParaRPr lang="en-US" sz="1300" dirty="0"/>
          </a:p>
        </p:txBody>
      </p:sp>
      <p:pic>
        <p:nvPicPr>
          <p:cNvPr id="6" name="Image 0" descr="/home/claude/images/plot03_cuda.png">    </p:cNvPr>
          <p:cNvPicPr>
            <a:picLocks noChangeAspect="1"/>
          </p:cNvPicPr>
          <p:nvPr/>
        </p:nvPicPr>
        <p:blipFill>
          <a:blip r:embed="rId1"/>
          <a:stretch>
            <a:fillRect/>
          </a:stretch>
        </p:blipFill>
        <p:spPr>
          <a:xfrm>
            <a:off x="457200" y="1371600"/>
            <a:ext cx="6400800" cy="3575304"/>
          </a:xfrm>
          <a:prstGeom prst="rect">
            <a:avLst/>
          </a:prstGeom>
        </p:spPr>
      </p:pic>
      <p:sp>
        <p:nvSpPr>
          <p:cNvPr id="7" name="Text 4"/>
          <p:cNvSpPr/>
          <p:nvPr/>
        </p:nvSpPr>
        <p:spPr>
          <a:xfrm>
            <a:off x="457200" y="4983480"/>
            <a:ext cx="64008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Each bar: H2D (host→device), kernel (compute), D2H (device→host). Numbers above = % spent on transfer.</a:t>
            </a:r>
            <a:endParaRPr lang="en-US" sz="1100" dirty="0"/>
          </a:p>
        </p:txBody>
      </p:sp>
      <p:sp>
        <p:nvSpPr>
          <p:cNvPr id="8" name="Shape 5"/>
          <p:cNvSpPr/>
          <p:nvPr/>
        </p:nvSpPr>
        <p:spPr>
          <a:xfrm>
            <a:off x="7178040" y="1371600"/>
            <a:ext cx="4572000" cy="2194560"/>
          </a:xfrm>
          <a:prstGeom prst="rect">
            <a:avLst/>
          </a:prstGeom>
          <a:solidFill>
            <a:srgbClr val="0E1B2C"/>
          </a:solidFill>
          <a:ln w="12700">
            <a:solidFill>
              <a:srgbClr val="0E1B2C"/>
            </a:solidFill>
            <a:prstDash val="solid"/>
          </a:ln>
        </p:spPr>
      </p:sp>
      <p:sp>
        <p:nvSpPr>
          <p:cNvPr id="9" name="Text 6"/>
          <p:cNvSpPr/>
          <p:nvPr/>
        </p:nvSpPr>
        <p:spPr>
          <a:xfrm>
            <a:off x="7178040" y="1463040"/>
            <a:ext cx="4572000" cy="914400"/>
          </a:xfrm>
          <a:prstGeom prst="rect">
            <a:avLst/>
          </a:prstGeom>
          <a:noFill/>
          <a:ln/>
        </p:spPr>
        <p:txBody>
          <a:bodyPr wrap="square" lIns="0" tIns="0" rIns="0" bIns="0" rtlCol="0" anchor="ctr"/>
          <a:lstStyle/>
          <a:p>
            <a:pPr algn="ctr" indent="0" marL="0">
              <a:buNone/>
            </a:pPr>
            <a:r>
              <a:rPr lang="en-US" sz="5600" b="1" dirty="0">
                <a:solidFill>
                  <a:srgbClr val="F4A261"/>
                </a:solidFill>
                <a:latin typeface="Cambria" pitchFamily="34" charset="0"/>
                <a:ea typeface="Cambria" pitchFamily="34" charset="-122"/>
                <a:cs typeface="Cambria" pitchFamily="34" charset="-120"/>
              </a:rPr>
              <a:t>60–85%</a:t>
            </a:r>
            <a:endParaRPr lang="en-US" sz="5600" dirty="0"/>
          </a:p>
        </p:txBody>
      </p:sp>
      <p:sp>
        <p:nvSpPr>
          <p:cNvPr id="10" name="Text 7"/>
          <p:cNvSpPr/>
          <p:nvPr/>
        </p:nvSpPr>
        <p:spPr>
          <a:xfrm>
            <a:off x="7360920" y="2468880"/>
            <a:ext cx="4206240" cy="1005840"/>
          </a:xfrm>
          <a:prstGeom prst="rect">
            <a:avLst/>
          </a:prstGeom>
          <a:noFill/>
          <a:ln/>
        </p:spPr>
        <p:txBody>
          <a:bodyPr wrap="square" lIns="0" tIns="0" rIns="0" bIns="0" rtlCol="0" anchor="t"/>
          <a:lstStyle/>
          <a:p>
            <a:pPr algn="ctr" indent="0" marL="0">
              <a:buNone/>
            </a:pPr>
            <a:r>
              <a:rPr lang="en-US" sz="1300" i="1" dirty="0">
                <a:solidFill>
                  <a:srgbClr val="FFFFFF"/>
                </a:solidFill>
                <a:latin typeface="Calibri" pitchFamily="34" charset="0"/>
                <a:ea typeface="Calibri" pitchFamily="34" charset="-122"/>
                <a:cs typeface="Calibri" pitchFamily="34" charset="-120"/>
              </a:rPr>
              <a:t>of GPU time is spent moving the image, not processing it</a:t>
            </a:r>
            <a:endParaRPr lang="en-US" sz="1300" dirty="0"/>
          </a:p>
        </p:txBody>
      </p:sp>
      <p:sp>
        <p:nvSpPr>
          <p:cNvPr id="11" name="Shape 8"/>
          <p:cNvSpPr/>
          <p:nvPr/>
        </p:nvSpPr>
        <p:spPr>
          <a:xfrm>
            <a:off x="7178040" y="3657600"/>
            <a:ext cx="4572000" cy="2377440"/>
          </a:xfrm>
          <a:prstGeom prst="rect">
            <a:avLst/>
          </a:prstGeom>
          <a:solidFill>
            <a:srgbClr val="F5F7FA"/>
          </a:solidFill>
          <a:ln w="12700">
            <a:solidFill>
              <a:srgbClr val="E2E8F0"/>
            </a:solidFill>
            <a:prstDash val="solid"/>
          </a:ln>
        </p:spPr>
      </p:sp>
      <p:sp>
        <p:nvSpPr>
          <p:cNvPr id="12" name="Shape 9"/>
          <p:cNvSpPr/>
          <p:nvPr/>
        </p:nvSpPr>
        <p:spPr>
          <a:xfrm>
            <a:off x="7178040" y="3657600"/>
            <a:ext cx="91440" cy="2377440"/>
          </a:xfrm>
          <a:prstGeom prst="rect">
            <a:avLst/>
          </a:prstGeom>
          <a:solidFill>
            <a:srgbClr val="E76F51"/>
          </a:solidFill>
          <a:ln w="12700">
            <a:solidFill>
              <a:srgbClr val="E76F51"/>
            </a:solidFill>
            <a:prstDash val="solid"/>
          </a:ln>
        </p:spPr>
      </p:sp>
      <p:sp>
        <p:nvSpPr>
          <p:cNvPr id="13" name="Text 10"/>
          <p:cNvSpPr/>
          <p:nvPr/>
        </p:nvSpPr>
        <p:spPr>
          <a:xfrm>
            <a:off x="7406640" y="3794760"/>
            <a:ext cx="4206240" cy="457200"/>
          </a:xfrm>
          <a:prstGeom prst="rect">
            <a:avLst/>
          </a:prstGeom>
          <a:noFill/>
          <a:ln/>
        </p:spPr>
        <p:txBody>
          <a:bodyPr wrap="square" lIns="0" tIns="0" rIns="0" bIns="0" rtlCol="0" anchor="ctr"/>
          <a:lstStyle/>
          <a:p>
            <a:pPr indent="0" marL="0">
              <a:buNone/>
            </a:pPr>
            <a:r>
              <a:rPr lang="en-US" sz="1400" b="1" dirty="0">
                <a:solidFill>
                  <a:srgbClr val="0E1B2C"/>
                </a:solidFill>
                <a:latin typeface="Cambria" pitchFamily="34" charset="0"/>
                <a:ea typeface="Cambria" pitchFamily="34" charset="-122"/>
                <a:cs typeface="Cambria" pitchFamily="34" charset="-120"/>
              </a:rPr>
              <a:t>Naive blur (1.8 ms)  beats  tiled (2.3 ms)</a:t>
            </a:r>
            <a:endParaRPr lang="en-US" sz="1400" dirty="0"/>
          </a:p>
        </p:txBody>
      </p:sp>
      <p:sp>
        <p:nvSpPr>
          <p:cNvPr id="14" name="Text 11"/>
          <p:cNvSpPr/>
          <p:nvPr/>
        </p:nvSpPr>
        <p:spPr>
          <a:xfrm>
            <a:off x="7406640" y="4251960"/>
            <a:ext cx="4206240" cy="169164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Textbooks say shared-memory tiling should win because it cuts redundant global reads. On the T4 the L2 cache is large enough to absorb those reads for free, so the tiled version's extra synchronisation cost is not amortised. The simpler kernel happens to be faster on this hardware.</a:t>
            </a:r>
            <a:endParaRPr lang="en-US" sz="1100" dirty="0"/>
          </a:p>
        </p:txBody>
      </p:sp>
      <p:sp>
        <p:nvSpPr>
          <p:cNvPr id="15" name="Text 12"/>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16" name="Text 13"/>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OpenMP Scheduling: Static vs Dynamic vs Guided</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Plot 04 — schedule() clause matters more than you think</a:t>
            </a:r>
            <a:endParaRPr lang="en-US" sz="1300" dirty="0"/>
          </a:p>
        </p:txBody>
      </p:sp>
      <p:pic>
        <p:nvPicPr>
          <p:cNvPr id="6" name="Image 0" descr="/home/claude/images/plot04_ompschedule.png">    </p:cNvPr>
          <p:cNvPicPr>
            <a:picLocks noChangeAspect="1"/>
          </p:cNvPicPr>
          <p:nvPr/>
        </p:nvPicPr>
        <p:blipFill>
          <a:blip r:embed="rId1"/>
          <a:stretch>
            <a:fillRect/>
          </a:stretch>
        </p:blipFill>
        <p:spPr>
          <a:xfrm>
            <a:off x="365760" y="1417320"/>
            <a:ext cx="11430000" cy="2414016"/>
          </a:xfrm>
          <a:prstGeom prst="rect">
            <a:avLst/>
          </a:prstGeom>
        </p:spPr>
      </p:pic>
      <p:sp>
        <p:nvSpPr>
          <p:cNvPr id="7" name="Text 4"/>
          <p:cNvSpPr/>
          <p:nvPr/>
        </p:nvSpPr>
        <p:spPr>
          <a:xfrm>
            <a:off x="365760" y="3886200"/>
            <a:ext cx="114300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All three schedules run the exact same loops; only the work-distribution policy differs.</a:t>
            </a:r>
            <a:endParaRPr lang="en-US" sz="1100" dirty="0"/>
          </a:p>
        </p:txBody>
      </p:sp>
      <p:sp>
        <p:nvSpPr>
          <p:cNvPr id="8" name="Shape 5"/>
          <p:cNvSpPr/>
          <p:nvPr/>
        </p:nvSpPr>
        <p:spPr>
          <a:xfrm>
            <a:off x="457200" y="4343400"/>
            <a:ext cx="3611880" cy="1417320"/>
          </a:xfrm>
          <a:prstGeom prst="rect">
            <a:avLst/>
          </a:prstGeom>
          <a:solidFill>
            <a:srgbClr val="F5F7FA"/>
          </a:solidFill>
          <a:ln w="12700">
            <a:solidFill>
              <a:srgbClr val="E2E8F0"/>
            </a:solidFill>
            <a:prstDash val="solid"/>
          </a:ln>
        </p:spPr>
      </p:sp>
      <p:sp>
        <p:nvSpPr>
          <p:cNvPr id="9" name="Shape 6"/>
          <p:cNvSpPr/>
          <p:nvPr/>
        </p:nvSpPr>
        <p:spPr>
          <a:xfrm>
            <a:off x="457200" y="4343400"/>
            <a:ext cx="91440" cy="1417320"/>
          </a:xfrm>
          <a:prstGeom prst="rect">
            <a:avLst/>
          </a:prstGeom>
          <a:solidFill>
            <a:srgbClr val="1C7293"/>
          </a:solidFill>
          <a:ln w="12700">
            <a:solidFill>
              <a:srgbClr val="1C7293"/>
            </a:solidFill>
            <a:prstDash val="solid"/>
          </a:ln>
        </p:spPr>
      </p:sp>
      <p:sp>
        <p:nvSpPr>
          <p:cNvPr id="10" name="Text 7"/>
          <p:cNvSpPr/>
          <p:nvPr/>
        </p:nvSpPr>
        <p:spPr>
          <a:xfrm>
            <a:off x="685800" y="4453128"/>
            <a:ext cx="3246120" cy="411480"/>
          </a:xfrm>
          <a:prstGeom prst="rect">
            <a:avLst/>
          </a:prstGeom>
          <a:noFill/>
          <a:ln/>
        </p:spPr>
        <p:txBody>
          <a:bodyPr wrap="square" lIns="0" tIns="0" rIns="0" bIns="0" rtlCol="0" anchor="ctr"/>
          <a:lstStyle/>
          <a:p>
            <a:pPr indent="0" marL="0">
              <a:buNone/>
            </a:pPr>
            <a:r>
              <a:rPr lang="en-US" sz="1700" b="1" spc="400" kern="0" dirty="0">
                <a:solidFill>
                  <a:srgbClr val="1C7293"/>
                </a:solidFill>
                <a:latin typeface="Cambria" pitchFamily="34" charset="0"/>
                <a:ea typeface="Cambria" pitchFamily="34" charset="-122"/>
                <a:cs typeface="Cambria" pitchFamily="34" charset="-120"/>
              </a:rPr>
              <a:t>STATIC</a:t>
            </a:r>
            <a:endParaRPr lang="en-US" sz="1700" dirty="0"/>
          </a:p>
        </p:txBody>
      </p:sp>
      <p:sp>
        <p:nvSpPr>
          <p:cNvPr id="11" name="Text 8"/>
          <p:cNvSpPr/>
          <p:nvPr/>
        </p:nvSpPr>
        <p:spPr>
          <a:xfrm>
            <a:off x="685800" y="4892040"/>
            <a:ext cx="3246120" cy="82296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Equal contiguous chunks at compile time. Scales well; safe default.</a:t>
            </a:r>
            <a:endParaRPr lang="en-US" sz="1200" dirty="0"/>
          </a:p>
        </p:txBody>
      </p:sp>
      <p:sp>
        <p:nvSpPr>
          <p:cNvPr id="12" name="Shape 9"/>
          <p:cNvSpPr/>
          <p:nvPr/>
        </p:nvSpPr>
        <p:spPr>
          <a:xfrm>
            <a:off x="4297680" y="4343400"/>
            <a:ext cx="3611880" cy="1417320"/>
          </a:xfrm>
          <a:prstGeom prst="rect">
            <a:avLst/>
          </a:prstGeom>
          <a:solidFill>
            <a:srgbClr val="F5F7FA"/>
          </a:solidFill>
          <a:ln w="12700">
            <a:solidFill>
              <a:srgbClr val="E2E8F0"/>
            </a:solidFill>
            <a:prstDash val="solid"/>
          </a:ln>
        </p:spPr>
      </p:sp>
      <p:sp>
        <p:nvSpPr>
          <p:cNvPr id="13" name="Shape 10"/>
          <p:cNvSpPr/>
          <p:nvPr/>
        </p:nvSpPr>
        <p:spPr>
          <a:xfrm>
            <a:off x="4297680" y="4343400"/>
            <a:ext cx="91440" cy="1417320"/>
          </a:xfrm>
          <a:prstGeom prst="rect">
            <a:avLst/>
          </a:prstGeom>
          <a:solidFill>
            <a:srgbClr val="E76F51"/>
          </a:solidFill>
          <a:ln w="12700">
            <a:solidFill>
              <a:srgbClr val="E76F51"/>
            </a:solidFill>
            <a:prstDash val="solid"/>
          </a:ln>
        </p:spPr>
      </p:sp>
      <p:sp>
        <p:nvSpPr>
          <p:cNvPr id="14" name="Text 11"/>
          <p:cNvSpPr/>
          <p:nvPr/>
        </p:nvSpPr>
        <p:spPr>
          <a:xfrm>
            <a:off x="4526280" y="4453128"/>
            <a:ext cx="3246120" cy="411480"/>
          </a:xfrm>
          <a:prstGeom prst="rect">
            <a:avLst/>
          </a:prstGeom>
          <a:noFill/>
          <a:ln/>
        </p:spPr>
        <p:txBody>
          <a:bodyPr wrap="square" lIns="0" tIns="0" rIns="0" bIns="0" rtlCol="0" anchor="ctr"/>
          <a:lstStyle/>
          <a:p>
            <a:pPr indent="0" marL="0">
              <a:buNone/>
            </a:pPr>
            <a:r>
              <a:rPr lang="en-US" sz="1700" b="1" spc="400" kern="0" dirty="0">
                <a:solidFill>
                  <a:srgbClr val="E76F51"/>
                </a:solidFill>
                <a:latin typeface="Cambria" pitchFamily="34" charset="0"/>
                <a:ea typeface="Cambria" pitchFamily="34" charset="-122"/>
                <a:cs typeface="Cambria" pitchFamily="34" charset="-120"/>
              </a:rPr>
              <a:t>DYNAMIC</a:t>
            </a:r>
            <a:endParaRPr lang="en-US" sz="1700" dirty="0"/>
          </a:p>
        </p:txBody>
      </p:sp>
      <p:sp>
        <p:nvSpPr>
          <p:cNvPr id="15" name="Text 12"/>
          <p:cNvSpPr/>
          <p:nvPr/>
        </p:nvSpPr>
        <p:spPr>
          <a:xfrm>
            <a:off x="4526280" y="4892040"/>
            <a:ext cx="3246120" cy="82296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One iteration per request — default chunk = 1 is catastrophic for fine-grained loops.</a:t>
            </a:r>
            <a:endParaRPr lang="en-US" sz="1200" dirty="0"/>
          </a:p>
        </p:txBody>
      </p:sp>
      <p:sp>
        <p:nvSpPr>
          <p:cNvPr id="16" name="Shape 13"/>
          <p:cNvSpPr/>
          <p:nvPr/>
        </p:nvSpPr>
        <p:spPr>
          <a:xfrm>
            <a:off x="8138160" y="4343400"/>
            <a:ext cx="3611880" cy="1417320"/>
          </a:xfrm>
          <a:prstGeom prst="rect">
            <a:avLst/>
          </a:prstGeom>
          <a:solidFill>
            <a:srgbClr val="F5F7FA"/>
          </a:solidFill>
          <a:ln w="12700">
            <a:solidFill>
              <a:srgbClr val="E2E8F0"/>
            </a:solidFill>
            <a:prstDash val="solid"/>
          </a:ln>
        </p:spPr>
      </p:sp>
      <p:sp>
        <p:nvSpPr>
          <p:cNvPr id="17" name="Shape 14"/>
          <p:cNvSpPr/>
          <p:nvPr/>
        </p:nvSpPr>
        <p:spPr>
          <a:xfrm>
            <a:off x="8138160" y="4343400"/>
            <a:ext cx="91440" cy="1417320"/>
          </a:xfrm>
          <a:prstGeom prst="rect">
            <a:avLst/>
          </a:prstGeom>
          <a:solidFill>
            <a:srgbClr val="F4A261"/>
          </a:solidFill>
          <a:ln w="12700">
            <a:solidFill>
              <a:srgbClr val="F4A261"/>
            </a:solidFill>
            <a:prstDash val="solid"/>
          </a:ln>
        </p:spPr>
      </p:sp>
      <p:sp>
        <p:nvSpPr>
          <p:cNvPr id="18" name="Text 15"/>
          <p:cNvSpPr/>
          <p:nvPr/>
        </p:nvSpPr>
        <p:spPr>
          <a:xfrm>
            <a:off x="8366760" y="4453128"/>
            <a:ext cx="3246120" cy="411480"/>
          </a:xfrm>
          <a:prstGeom prst="rect">
            <a:avLst/>
          </a:prstGeom>
          <a:noFill/>
          <a:ln/>
        </p:spPr>
        <p:txBody>
          <a:bodyPr wrap="square" lIns="0" tIns="0" rIns="0" bIns="0" rtlCol="0" anchor="ctr"/>
          <a:lstStyle/>
          <a:p>
            <a:pPr indent="0" marL="0">
              <a:buNone/>
            </a:pPr>
            <a:r>
              <a:rPr lang="en-US" sz="1700" b="1" spc="400" kern="0" dirty="0">
                <a:solidFill>
                  <a:srgbClr val="F4A261"/>
                </a:solidFill>
                <a:latin typeface="Cambria" pitchFamily="34" charset="0"/>
                <a:ea typeface="Cambria" pitchFamily="34" charset="-122"/>
                <a:cs typeface="Cambria" pitchFamily="34" charset="-120"/>
              </a:rPr>
              <a:t>GUIDED</a:t>
            </a:r>
            <a:endParaRPr lang="en-US" sz="1700" dirty="0"/>
          </a:p>
        </p:txBody>
      </p:sp>
      <p:sp>
        <p:nvSpPr>
          <p:cNvPr id="19" name="Text 16"/>
          <p:cNvSpPr/>
          <p:nvPr/>
        </p:nvSpPr>
        <p:spPr>
          <a:xfrm>
            <a:off x="8366760" y="4892040"/>
            <a:ext cx="3246120" cy="82296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Starts large, shrinks. Tracks static closely on this workload.</a:t>
            </a:r>
            <a:endParaRPr lang="en-US" sz="1200" dirty="0"/>
          </a:p>
        </p:txBody>
      </p:sp>
      <p:sp>
        <p:nvSpPr>
          <p:cNvPr id="20" name="Shape 17"/>
          <p:cNvSpPr/>
          <p:nvPr/>
        </p:nvSpPr>
        <p:spPr>
          <a:xfrm>
            <a:off x="457200" y="5943600"/>
            <a:ext cx="11247120" cy="411480"/>
          </a:xfrm>
          <a:prstGeom prst="rect">
            <a:avLst/>
          </a:prstGeom>
          <a:solidFill>
            <a:srgbClr val="0E1B2C"/>
          </a:solidFill>
          <a:ln w="12700">
            <a:solidFill>
              <a:srgbClr val="0E1B2C"/>
            </a:solidFill>
            <a:prstDash val="solid"/>
          </a:ln>
        </p:spPr>
      </p:sp>
      <p:sp>
        <p:nvSpPr>
          <p:cNvPr id="21" name="Text 18"/>
          <p:cNvSpPr/>
          <p:nvPr/>
        </p:nvSpPr>
        <p:spPr>
          <a:xfrm>
            <a:off x="457200" y="5943600"/>
            <a:ext cx="11247120" cy="411480"/>
          </a:xfrm>
          <a:prstGeom prst="rect">
            <a:avLst/>
          </a:prstGeom>
          <a:noFill/>
          <a:ln/>
        </p:spPr>
        <p:txBody>
          <a:bodyPr wrap="square" lIns="0" tIns="0" rIns="0" bIns="0" rtlCol="0" anchor="ctr"/>
          <a:lstStyle/>
          <a:p>
            <a:pPr algn="ctr" indent="0" marL="0">
              <a:buNone/>
            </a:pPr>
            <a:r>
              <a:rPr lang="en-US" sz="1300" b="1" dirty="0">
                <a:solidFill>
                  <a:srgbClr val="F4A261"/>
                </a:solidFill>
                <a:latin typeface="Calibri" pitchFamily="34" charset="0"/>
                <a:ea typeface="Calibri" pitchFamily="34" charset="-122"/>
                <a:cs typeface="Calibri" pitchFamily="34" charset="-120"/>
              </a:rPr>
              <a:t>Key finding:  </a:t>
            </a:r>
            <a:pPr algn="ctr" indent="0" marL="0">
              <a:buNone/>
            </a:pPr>
            <a:r>
              <a:rPr lang="en-US" sz="1300" dirty="0">
                <a:solidFill>
                  <a:srgbClr val="FFFFFF"/>
                </a:solidFill>
                <a:latin typeface="Calibri" pitchFamily="34" charset="0"/>
                <a:ea typeface="Calibri" pitchFamily="34" charset="-122"/>
                <a:cs typeface="Calibri" pitchFamily="34" charset="-120"/>
              </a:rPr>
              <a:t>dynamic with default chunk size can be </a:t>
            </a:r>
            <a:pPr algn="ctr" indent="0" marL="0">
              <a:buNone/>
            </a:pPr>
            <a:r>
              <a:rPr lang="en-US" sz="1300" b="1" dirty="0">
                <a:solidFill>
                  <a:srgbClr val="F4A261"/>
                </a:solidFill>
                <a:latin typeface="Calibri" pitchFamily="34" charset="0"/>
                <a:ea typeface="Calibri" pitchFamily="34" charset="-122"/>
                <a:cs typeface="Calibri" pitchFamily="34" charset="-120"/>
              </a:rPr>
              <a:t>&gt;20× slower than static </a:t>
            </a:r>
            <a:pPr algn="ctr" indent="0" marL="0">
              <a:buNone/>
            </a:pPr>
            <a:r>
              <a:rPr lang="en-US" sz="1300" dirty="0">
                <a:solidFill>
                  <a:srgbClr val="FFFFFF"/>
                </a:solidFill>
                <a:latin typeface="Calibri" pitchFamily="34" charset="0"/>
                <a:ea typeface="Calibri" pitchFamily="34" charset="-122"/>
                <a:cs typeface="Calibri" pitchFamily="34" charset="-120"/>
              </a:rPr>
              <a:t>for fine-grained loops (histeq, bc).</a:t>
            </a:r>
            <a:endParaRPr lang="en-US" sz="1300" dirty="0"/>
          </a:p>
        </p:txBody>
      </p:sp>
      <p:sp>
        <p:nvSpPr>
          <p:cNvPr id="22" name="Text 19"/>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23" name="Text 20"/>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1C7293"/>
          </a:solidFill>
          <a:ln w="12700">
            <a:solidFill>
              <a:srgbClr val="1C7293"/>
            </a:solidFill>
            <a:prstDash val="solid"/>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p:nvPr/>
        </p:nvSpPr>
        <p:spPr>
          <a:xfrm>
            <a:off x="1097280" y="365760"/>
            <a:ext cx="10607040" cy="548640"/>
          </a:xfrm>
          <a:prstGeom prst="rect">
            <a:avLst/>
          </a:prstGeom>
          <a:noFill/>
          <a:ln/>
        </p:spPr>
        <p:txBody>
          <a:bodyPr wrap="square" lIns="0" tIns="0" rIns="0" bIns="0" rtlCol="0" anchor="ctr"/>
          <a:lstStyle/>
          <a:p>
            <a:pPr algn="l" indent="0" marL="0">
              <a:buNone/>
            </a:pPr>
            <a:r>
              <a:rPr lang="en-US" sz="2600" b="1" dirty="0">
                <a:solidFill>
                  <a:srgbClr val="0E1B2C"/>
                </a:solidFill>
                <a:latin typeface="Cambria" pitchFamily="34" charset="0"/>
                <a:ea typeface="Cambria" pitchFamily="34" charset="-122"/>
                <a:cs typeface="Cambria" pitchFamily="34" charset="-120"/>
              </a:rPr>
              <a:t>OpenMP vs POSIX Threads</a:t>
            </a:r>
            <a:endParaRPr lang="en-US" sz="2600" dirty="0"/>
          </a:p>
        </p:txBody>
      </p:sp>
      <p:sp>
        <p:nvSpPr>
          <p:cNvPr id="5" name="Text 3"/>
          <p:cNvSpPr/>
          <p:nvPr/>
        </p:nvSpPr>
        <p:spPr>
          <a:xfrm>
            <a:off x="1097280" y="868680"/>
            <a:ext cx="10607040" cy="32004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Plot 05 — high-level convenience versus low-level mechanics, head to head</a:t>
            </a:r>
            <a:endParaRPr lang="en-US" sz="1300" dirty="0"/>
          </a:p>
        </p:txBody>
      </p:sp>
      <p:pic>
        <p:nvPicPr>
          <p:cNvPr id="6" name="Image 0" descr="/home/claude/images/plot05_omp_vs_pthread.png">    </p:cNvPr>
          <p:cNvPicPr>
            <a:picLocks noChangeAspect="1"/>
          </p:cNvPicPr>
          <p:nvPr/>
        </p:nvPicPr>
        <p:blipFill>
          <a:blip r:embed="rId1"/>
          <a:stretch>
            <a:fillRect/>
          </a:stretch>
        </p:blipFill>
        <p:spPr>
          <a:xfrm>
            <a:off x="365760" y="1417320"/>
            <a:ext cx="11430000" cy="2414016"/>
          </a:xfrm>
          <a:prstGeom prst="rect">
            <a:avLst/>
          </a:prstGeom>
        </p:spPr>
      </p:pic>
      <p:sp>
        <p:nvSpPr>
          <p:cNvPr id="7" name="Text 4"/>
          <p:cNvSpPr/>
          <p:nvPr/>
        </p:nvSpPr>
        <p:spPr>
          <a:xfrm>
            <a:off x="365760" y="3886200"/>
            <a:ext cx="114300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Same workload, two implementations: one #pragma vs ~200 lines of pool + task-struct code.</a:t>
            </a:r>
            <a:endParaRPr lang="en-US" sz="1100" dirty="0"/>
          </a:p>
        </p:txBody>
      </p:sp>
      <p:sp>
        <p:nvSpPr>
          <p:cNvPr id="8" name="Shape 5"/>
          <p:cNvSpPr/>
          <p:nvPr/>
        </p:nvSpPr>
        <p:spPr>
          <a:xfrm>
            <a:off x="457200" y="4434840"/>
            <a:ext cx="5486400" cy="1874520"/>
          </a:xfrm>
          <a:prstGeom prst="rect">
            <a:avLst/>
          </a:prstGeom>
          <a:solidFill>
            <a:srgbClr val="F5F7FA"/>
          </a:solidFill>
          <a:ln w="12700">
            <a:solidFill>
              <a:srgbClr val="E2E8F0"/>
            </a:solidFill>
            <a:prstDash val="solid"/>
          </a:ln>
        </p:spPr>
      </p:sp>
      <p:sp>
        <p:nvSpPr>
          <p:cNvPr id="9" name="Shape 6"/>
          <p:cNvSpPr/>
          <p:nvPr/>
        </p:nvSpPr>
        <p:spPr>
          <a:xfrm>
            <a:off x="457200" y="4434840"/>
            <a:ext cx="91440" cy="1874520"/>
          </a:xfrm>
          <a:prstGeom prst="rect">
            <a:avLst/>
          </a:prstGeom>
          <a:solidFill>
            <a:srgbClr val="1C7293"/>
          </a:solidFill>
          <a:ln w="12700">
            <a:solidFill>
              <a:srgbClr val="1C7293"/>
            </a:solidFill>
            <a:prstDash val="solid"/>
          </a:ln>
        </p:spPr>
      </p:sp>
      <p:sp>
        <p:nvSpPr>
          <p:cNvPr id="10" name="Text 7"/>
          <p:cNvSpPr/>
          <p:nvPr/>
        </p:nvSpPr>
        <p:spPr>
          <a:xfrm>
            <a:off x="640080" y="4572000"/>
            <a:ext cx="5212080" cy="365760"/>
          </a:xfrm>
          <a:prstGeom prst="rect">
            <a:avLst/>
          </a:prstGeom>
          <a:noFill/>
          <a:ln/>
        </p:spPr>
        <p:txBody>
          <a:bodyPr wrap="square" lIns="0" tIns="0" rIns="0" bIns="0" rtlCol="0" anchor="ctr"/>
          <a:lstStyle/>
          <a:p>
            <a:pPr indent="0" marL="0">
              <a:buNone/>
            </a:pPr>
            <a:r>
              <a:rPr lang="en-US" sz="1500" b="1" dirty="0">
                <a:solidFill>
                  <a:srgbClr val="0E1B2C"/>
                </a:solidFill>
                <a:latin typeface="Cambria" pitchFamily="34" charset="0"/>
                <a:ea typeface="Cambria" pitchFamily="34" charset="-122"/>
                <a:cs typeface="Cambria" pitchFamily="34" charset="-120"/>
              </a:rPr>
              <a:t>Curves track each other closely</a:t>
            </a:r>
            <a:endParaRPr lang="en-US" sz="1500" dirty="0"/>
          </a:p>
        </p:txBody>
      </p:sp>
      <p:sp>
        <p:nvSpPr>
          <p:cNvPr id="11" name="Text 8"/>
          <p:cNvSpPr/>
          <p:nvPr/>
        </p:nvSpPr>
        <p:spPr>
          <a:xfrm>
            <a:off x="640080" y="4983480"/>
            <a:ext cx="5212080" cy="128016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On every filter the two paradigms produce essentially the same wall-clock. OpenMP's convenience does not come at a measurable performance cost on this hardware.</a:t>
            </a:r>
            <a:endParaRPr lang="en-US" sz="1200" dirty="0"/>
          </a:p>
        </p:txBody>
      </p:sp>
      <p:sp>
        <p:nvSpPr>
          <p:cNvPr id="12" name="Shape 9"/>
          <p:cNvSpPr/>
          <p:nvPr/>
        </p:nvSpPr>
        <p:spPr>
          <a:xfrm>
            <a:off x="6263640" y="4434840"/>
            <a:ext cx="5486400" cy="1874520"/>
          </a:xfrm>
          <a:prstGeom prst="rect">
            <a:avLst/>
          </a:prstGeom>
          <a:solidFill>
            <a:srgbClr val="F5F7FA"/>
          </a:solidFill>
          <a:ln w="12700">
            <a:solidFill>
              <a:srgbClr val="E2E8F0"/>
            </a:solidFill>
            <a:prstDash val="solid"/>
          </a:ln>
        </p:spPr>
      </p:sp>
      <p:sp>
        <p:nvSpPr>
          <p:cNvPr id="13" name="Shape 10"/>
          <p:cNvSpPr/>
          <p:nvPr/>
        </p:nvSpPr>
        <p:spPr>
          <a:xfrm>
            <a:off x="6263640" y="4434840"/>
            <a:ext cx="91440" cy="1874520"/>
          </a:xfrm>
          <a:prstGeom prst="rect">
            <a:avLst/>
          </a:prstGeom>
          <a:solidFill>
            <a:srgbClr val="F4A261"/>
          </a:solidFill>
          <a:ln w="12700">
            <a:solidFill>
              <a:srgbClr val="F4A261"/>
            </a:solidFill>
            <a:prstDash val="solid"/>
          </a:ln>
        </p:spPr>
      </p:sp>
      <p:sp>
        <p:nvSpPr>
          <p:cNvPr id="14" name="Text 11"/>
          <p:cNvSpPr/>
          <p:nvPr/>
        </p:nvSpPr>
        <p:spPr>
          <a:xfrm>
            <a:off x="6446520" y="4572000"/>
            <a:ext cx="5212080" cy="365760"/>
          </a:xfrm>
          <a:prstGeom prst="rect">
            <a:avLst/>
          </a:prstGeom>
          <a:noFill/>
          <a:ln/>
        </p:spPr>
        <p:txBody>
          <a:bodyPr wrap="square" lIns="0" tIns="0" rIns="0" bIns="0" rtlCol="0" anchor="ctr"/>
          <a:lstStyle/>
          <a:p>
            <a:pPr indent="0" marL="0">
              <a:buNone/>
            </a:pPr>
            <a:r>
              <a:rPr lang="en-US" sz="1500" b="1" dirty="0">
                <a:solidFill>
                  <a:srgbClr val="0E1B2C"/>
                </a:solidFill>
                <a:latin typeface="Cambria" pitchFamily="34" charset="0"/>
                <a:ea typeface="Cambria" pitchFamily="34" charset="-122"/>
                <a:cs typeface="Cambria" pitchFamily="34" charset="-120"/>
              </a:rPr>
              <a:t>The honest engineering takeaway</a:t>
            </a:r>
            <a:endParaRPr lang="en-US" sz="1500" dirty="0"/>
          </a:p>
        </p:txBody>
      </p:sp>
      <p:sp>
        <p:nvSpPr>
          <p:cNvPr id="15" name="Text 12"/>
          <p:cNvSpPr/>
          <p:nvPr/>
        </p:nvSpPr>
        <p:spPr>
          <a:xfrm>
            <a:off x="6446520" y="4983480"/>
            <a:ext cx="5212080" cy="1280160"/>
          </a:xfrm>
          <a:prstGeom prst="rect">
            <a:avLst/>
          </a:prstGeom>
          <a:noFill/>
          <a:ln/>
        </p:spPr>
        <p:txBody>
          <a:bodyPr wrap="square" lIns="0" tIns="0" rIns="0" bIns="0" rtlCol="0" anchor="t"/>
          <a:lstStyle/>
          <a:p>
            <a:pPr indent="0" marL="0">
              <a:buNone/>
            </a:pPr>
            <a:r>
              <a:rPr lang="en-US" sz="1200" dirty="0">
                <a:solidFill>
                  <a:srgbClr val="1A2332"/>
                </a:solidFill>
                <a:latin typeface="Calibri" pitchFamily="34" charset="0"/>
                <a:ea typeface="Calibri" pitchFamily="34" charset="-122"/>
                <a:cs typeface="Calibri" pitchFamily="34" charset="-120"/>
              </a:rPr>
              <a:t>OpenMP is the better choice for data-parallel image work. The hand-rolled pthread version exists to demonstrate understanding of what OpenMP is hiding under the hood.</a:t>
            </a:r>
            <a:endParaRPr lang="en-US" sz="1200" dirty="0"/>
          </a:p>
        </p:txBody>
      </p:sp>
      <p:sp>
        <p:nvSpPr>
          <p:cNvPr id="16" name="Text 13"/>
          <p:cNvSpPr/>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Parallel Image Processing Pipeline   •   CAT 2</a:t>
            </a:r>
            <a:endParaRPr lang="en-US" sz="900" dirty="0"/>
          </a:p>
        </p:txBody>
      </p:sp>
      <p:sp>
        <p:nvSpPr>
          <p:cNvPr id="17" name="Text 14"/>
          <p:cNvSpPr/>
          <p:nvPr/>
        </p:nvSpPr>
        <p:spPr>
          <a:xfrm>
            <a:off x="10972800" y="649224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B2C"/>
        </a:solidFill>
      </p:bgPr>
    </p:bg>
    <p:spTree>
      <p:nvGrpSpPr>
        <p:cNvPr id="1" name=""/>
        <p:cNvGrpSpPr/>
        <p:nvPr/>
      </p:nvGrpSpPr>
      <p:grpSpPr>
        <a:xfrm>
          <a:off x="0" y="0"/>
          <a:ext cx="0" cy="0"/>
          <a:chOff x="0" y="0"/>
          <a:chExt cx="0" cy="0"/>
        </a:xfrm>
      </p:grpSpPr>
      <p:sp>
        <p:nvSpPr>
          <p:cNvPr id="2" name="Shape 0"/>
          <p:cNvSpPr/>
          <p:nvPr/>
        </p:nvSpPr>
        <p:spPr>
          <a:xfrm>
            <a:off x="457200" y="457200"/>
            <a:ext cx="64008" cy="64008"/>
          </a:xfrm>
          <a:prstGeom prst="ellipse">
            <a:avLst/>
          </a:prstGeom>
          <a:solidFill>
            <a:srgbClr val="2596BE">
              <a:alpha val="30000"/>
            </a:srgbClr>
          </a:solidFill>
          <a:ln w="12700">
            <a:solidFill>
              <a:srgbClr val="2596BE"/>
            </a:solidFill>
            <a:prstDash val="solid"/>
          </a:ln>
        </p:spPr>
      </p:sp>
      <p:sp>
        <p:nvSpPr>
          <p:cNvPr id="3" name="Shape 1"/>
          <p:cNvSpPr/>
          <p:nvPr/>
        </p:nvSpPr>
        <p:spPr>
          <a:xfrm>
            <a:off x="713232" y="457200"/>
            <a:ext cx="64008" cy="64008"/>
          </a:xfrm>
          <a:prstGeom prst="ellipse">
            <a:avLst/>
          </a:prstGeom>
          <a:solidFill>
            <a:srgbClr val="2596BE">
              <a:alpha val="30000"/>
            </a:srgbClr>
          </a:solidFill>
          <a:ln w="12700">
            <a:solidFill>
              <a:srgbClr val="2596BE"/>
            </a:solidFill>
            <a:prstDash val="solid"/>
          </a:ln>
        </p:spPr>
      </p:sp>
      <p:sp>
        <p:nvSpPr>
          <p:cNvPr id="4" name="Shape 2"/>
          <p:cNvSpPr/>
          <p:nvPr/>
        </p:nvSpPr>
        <p:spPr>
          <a:xfrm>
            <a:off x="969264" y="457200"/>
            <a:ext cx="64008" cy="64008"/>
          </a:xfrm>
          <a:prstGeom prst="ellipse">
            <a:avLst/>
          </a:prstGeom>
          <a:solidFill>
            <a:srgbClr val="2596BE">
              <a:alpha val="30000"/>
            </a:srgbClr>
          </a:solidFill>
          <a:ln w="12700">
            <a:solidFill>
              <a:srgbClr val="2596BE"/>
            </a:solidFill>
            <a:prstDash val="solid"/>
          </a:ln>
        </p:spPr>
      </p:sp>
      <p:sp>
        <p:nvSpPr>
          <p:cNvPr id="5" name="Shape 3"/>
          <p:cNvSpPr/>
          <p:nvPr/>
        </p:nvSpPr>
        <p:spPr>
          <a:xfrm>
            <a:off x="1225296" y="457200"/>
            <a:ext cx="64008" cy="64008"/>
          </a:xfrm>
          <a:prstGeom prst="ellipse">
            <a:avLst/>
          </a:prstGeom>
          <a:solidFill>
            <a:srgbClr val="2596BE">
              <a:alpha val="30000"/>
            </a:srgbClr>
          </a:solidFill>
          <a:ln w="12700">
            <a:solidFill>
              <a:srgbClr val="2596BE"/>
            </a:solidFill>
            <a:prstDash val="solid"/>
          </a:ln>
        </p:spPr>
      </p:sp>
      <p:sp>
        <p:nvSpPr>
          <p:cNvPr id="6" name="Shape 4"/>
          <p:cNvSpPr/>
          <p:nvPr/>
        </p:nvSpPr>
        <p:spPr>
          <a:xfrm>
            <a:off x="1481328" y="457200"/>
            <a:ext cx="64008" cy="64008"/>
          </a:xfrm>
          <a:prstGeom prst="ellipse">
            <a:avLst/>
          </a:prstGeom>
          <a:solidFill>
            <a:srgbClr val="2596BE">
              <a:alpha val="30000"/>
            </a:srgbClr>
          </a:solidFill>
          <a:ln w="12700">
            <a:solidFill>
              <a:srgbClr val="2596BE"/>
            </a:solidFill>
            <a:prstDash val="solid"/>
          </a:ln>
        </p:spPr>
      </p:sp>
      <p:sp>
        <p:nvSpPr>
          <p:cNvPr id="7" name="Shape 5"/>
          <p:cNvSpPr/>
          <p:nvPr/>
        </p:nvSpPr>
        <p:spPr>
          <a:xfrm>
            <a:off x="1737360" y="457200"/>
            <a:ext cx="64008" cy="64008"/>
          </a:xfrm>
          <a:prstGeom prst="ellipse">
            <a:avLst/>
          </a:prstGeom>
          <a:solidFill>
            <a:srgbClr val="2596BE">
              <a:alpha val="30000"/>
            </a:srgbClr>
          </a:solidFill>
          <a:ln w="12700">
            <a:solidFill>
              <a:srgbClr val="2596BE"/>
            </a:solidFill>
            <a:prstDash val="solid"/>
          </a:ln>
        </p:spPr>
      </p:sp>
      <p:sp>
        <p:nvSpPr>
          <p:cNvPr id="8" name="Shape 6"/>
          <p:cNvSpPr/>
          <p:nvPr/>
        </p:nvSpPr>
        <p:spPr>
          <a:xfrm>
            <a:off x="1993392" y="457200"/>
            <a:ext cx="64008" cy="64008"/>
          </a:xfrm>
          <a:prstGeom prst="ellipse">
            <a:avLst/>
          </a:prstGeom>
          <a:solidFill>
            <a:srgbClr val="2596BE">
              <a:alpha val="30000"/>
            </a:srgbClr>
          </a:solidFill>
          <a:ln w="12700">
            <a:solidFill>
              <a:srgbClr val="2596BE"/>
            </a:solidFill>
            <a:prstDash val="solid"/>
          </a:ln>
        </p:spPr>
      </p:sp>
      <p:sp>
        <p:nvSpPr>
          <p:cNvPr id="9" name="Shape 7"/>
          <p:cNvSpPr/>
          <p:nvPr/>
        </p:nvSpPr>
        <p:spPr>
          <a:xfrm>
            <a:off x="2249424" y="457200"/>
            <a:ext cx="64008" cy="64008"/>
          </a:xfrm>
          <a:prstGeom prst="ellipse">
            <a:avLst/>
          </a:prstGeom>
          <a:solidFill>
            <a:srgbClr val="2596BE">
              <a:alpha val="30000"/>
            </a:srgbClr>
          </a:solidFill>
          <a:ln w="12700">
            <a:solidFill>
              <a:srgbClr val="2596BE"/>
            </a:solidFill>
            <a:prstDash val="solid"/>
          </a:ln>
        </p:spPr>
      </p:sp>
      <p:sp>
        <p:nvSpPr>
          <p:cNvPr id="10" name="Shape 8"/>
          <p:cNvSpPr/>
          <p:nvPr/>
        </p:nvSpPr>
        <p:spPr>
          <a:xfrm>
            <a:off x="2505456" y="457200"/>
            <a:ext cx="64008" cy="64008"/>
          </a:xfrm>
          <a:prstGeom prst="ellipse">
            <a:avLst/>
          </a:prstGeom>
          <a:solidFill>
            <a:srgbClr val="2596BE">
              <a:alpha val="30000"/>
            </a:srgbClr>
          </a:solidFill>
          <a:ln w="12700">
            <a:solidFill>
              <a:srgbClr val="2596BE"/>
            </a:solidFill>
            <a:prstDash val="solid"/>
          </a:ln>
        </p:spPr>
      </p:sp>
      <p:sp>
        <p:nvSpPr>
          <p:cNvPr id="11" name="Shape 9"/>
          <p:cNvSpPr/>
          <p:nvPr/>
        </p:nvSpPr>
        <p:spPr>
          <a:xfrm>
            <a:off x="2761488" y="457200"/>
            <a:ext cx="64008" cy="64008"/>
          </a:xfrm>
          <a:prstGeom prst="ellipse">
            <a:avLst/>
          </a:prstGeom>
          <a:solidFill>
            <a:srgbClr val="2596BE">
              <a:alpha val="30000"/>
            </a:srgbClr>
          </a:solidFill>
          <a:ln w="12700">
            <a:solidFill>
              <a:srgbClr val="2596BE"/>
            </a:solidFill>
            <a:prstDash val="solid"/>
          </a:ln>
        </p:spPr>
      </p:sp>
      <p:sp>
        <p:nvSpPr>
          <p:cNvPr id="12" name="Shape 10"/>
          <p:cNvSpPr/>
          <p:nvPr/>
        </p:nvSpPr>
        <p:spPr>
          <a:xfrm>
            <a:off x="3017520" y="457200"/>
            <a:ext cx="64008" cy="64008"/>
          </a:xfrm>
          <a:prstGeom prst="ellipse">
            <a:avLst/>
          </a:prstGeom>
          <a:solidFill>
            <a:srgbClr val="2596BE">
              <a:alpha val="30000"/>
            </a:srgbClr>
          </a:solidFill>
          <a:ln w="12700">
            <a:solidFill>
              <a:srgbClr val="2596BE"/>
            </a:solidFill>
            <a:prstDash val="solid"/>
          </a:ln>
        </p:spPr>
      </p:sp>
      <p:sp>
        <p:nvSpPr>
          <p:cNvPr id="13" name="Shape 11"/>
          <p:cNvSpPr/>
          <p:nvPr/>
        </p:nvSpPr>
        <p:spPr>
          <a:xfrm>
            <a:off x="3273552" y="457200"/>
            <a:ext cx="64008" cy="64008"/>
          </a:xfrm>
          <a:prstGeom prst="ellipse">
            <a:avLst/>
          </a:prstGeom>
          <a:solidFill>
            <a:srgbClr val="2596BE">
              <a:alpha val="30000"/>
            </a:srgbClr>
          </a:solidFill>
          <a:ln w="12700">
            <a:solidFill>
              <a:srgbClr val="2596BE"/>
            </a:solidFill>
            <a:prstDash val="solid"/>
          </a:ln>
        </p:spPr>
      </p:sp>
      <p:sp>
        <p:nvSpPr>
          <p:cNvPr id="14" name="Shape 12"/>
          <p:cNvSpPr/>
          <p:nvPr/>
        </p:nvSpPr>
        <p:spPr>
          <a:xfrm>
            <a:off x="457200" y="713232"/>
            <a:ext cx="64008" cy="64008"/>
          </a:xfrm>
          <a:prstGeom prst="ellipse">
            <a:avLst/>
          </a:prstGeom>
          <a:solidFill>
            <a:srgbClr val="2596BE">
              <a:alpha val="30000"/>
            </a:srgbClr>
          </a:solidFill>
          <a:ln w="12700">
            <a:solidFill>
              <a:srgbClr val="2596BE"/>
            </a:solidFill>
            <a:prstDash val="solid"/>
          </a:ln>
        </p:spPr>
      </p:sp>
      <p:sp>
        <p:nvSpPr>
          <p:cNvPr id="15" name="Shape 13"/>
          <p:cNvSpPr/>
          <p:nvPr/>
        </p:nvSpPr>
        <p:spPr>
          <a:xfrm>
            <a:off x="713232" y="713232"/>
            <a:ext cx="64008" cy="64008"/>
          </a:xfrm>
          <a:prstGeom prst="ellipse">
            <a:avLst/>
          </a:prstGeom>
          <a:solidFill>
            <a:srgbClr val="2596BE">
              <a:alpha val="30000"/>
            </a:srgbClr>
          </a:solidFill>
          <a:ln w="12700">
            <a:solidFill>
              <a:srgbClr val="2596BE"/>
            </a:solidFill>
            <a:prstDash val="solid"/>
          </a:ln>
        </p:spPr>
      </p:sp>
      <p:sp>
        <p:nvSpPr>
          <p:cNvPr id="16" name="Shape 14"/>
          <p:cNvSpPr/>
          <p:nvPr/>
        </p:nvSpPr>
        <p:spPr>
          <a:xfrm>
            <a:off x="969264" y="713232"/>
            <a:ext cx="64008" cy="64008"/>
          </a:xfrm>
          <a:prstGeom prst="ellipse">
            <a:avLst/>
          </a:prstGeom>
          <a:solidFill>
            <a:srgbClr val="2596BE">
              <a:alpha val="30000"/>
            </a:srgbClr>
          </a:solidFill>
          <a:ln w="12700">
            <a:solidFill>
              <a:srgbClr val="2596BE"/>
            </a:solidFill>
            <a:prstDash val="solid"/>
          </a:ln>
        </p:spPr>
      </p:sp>
      <p:sp>
        <p:nvSpPr>
          <p:cNvPr id="17" name="Shape 15"/>
          <p:cNvSpPr/>
          <p:nvPr/>
        </p:nvSpPr>
        <p:spPr>
          <a:xfrm>
            <a:off x="1225296" y="713232"/>
            <a:ext cx="64008" cy="64008"/>
          </a:xfrm>
          <a:prstGeom prst="ellipse">
            <a:avLst/>
          </a:prstGeom>
          <a:solidFill>
            <a:srgbClr val="2596BE">
              <a:alpha val="30000"/>
            </a:srgbClr>
          </a:solidFill>
          <a:ln w="12700">
            <a:solidFill>
              <a:srgbClr val="2596BE"/>
            </a:solidFill>
            <a:prstDash val="solid"/>
          </a:ln>
        </p:spPr>
      </p:sp>
      <p:sp>
        <p:nvSpPr>
          <p:cNvPr id="18" name="Shape 16"/>
          <p:cNvSpPr/>
          <p:nvPr/>
        </p:nvSpPr>
        <p:spPr>
          <a:xfrm>
            <a:off x="1481328" y="713232"/>
            <a:ext cx="64008" cy="64008"/>
          </a:xfrm>
          <a:prstGeom prst="ellipse">
            <a:avLst/>
          </a:prstGeom>
          <a:solidFill>
            <a:srgbClr val="2596BE">
              <a:alpha val="30000"/>
            </a:srgbClr>
          </a:solidFill>
          <a:ln w="12700">
            <a:solidFill>
              <a:srgbClr val="2596BE"/>
            </a:solidFill>
            <a:prstDash val="solid"/>
          </a:ln>
        </p:spPr>
      </p:sp>
      <p:sp>
        <p:nvSpPr>
          <p:cNvPr id="19" name="Shape 17"/>
          <p:cNvSpPr/>
          <p:nvPr/>
        </p:nvSpPr>
        <p:spPr>
          <a:xfrm>
            <a:off x="1737360" y="713232"/>
            <a:ext cx="64008" cy="64008"/>
          </a:xfrm>
          <a:prstGeom prst="ellipse">
            <a:avLst/>
          </a:prstGeom>
          <a:solidFill>
            <a:srgbClr val="2596BE">
              <a:alpha val="30000"/>
            </a:srgbClr>
          </a:solidFill>
          <a:ln w="12700">
            <a:solidFill>
              <a:srgbClr val="2596BE"/>
            </a:solidFill>
            <a:prstDash val="solid"/>
          </a:ln>
        </p:spPr>
      </p:sp>
      <p:sp>
        <p:nvSpPr>
          <p:cNvPr id="20" name="Shape 18"/>
          <p:cNvSpPr/>
          <p:nvPr/>
        </p:nvSpPr>
        <p:spPr>
          <a:xfrm>
            <a:off x="1993392" y="713232"/>
            <a:ext cx="64008" cy="64008"/>
          </a:xfrm>
          <a:prstGeom prst="ellipse">
            <a:avLst/>
          </a:prstGeom>
          <a:solidFill>
            <a:srgbClr val="2596BE">
              <a:alpha val="30000"/>
            </a:srgbClr>
          </a:solidFill>
          <a:ln w="12700">
            <a:solidFill>
              <a:srgbClr val="2596BE"/>
            </a:solidFill>
            <a:prstDash val="solid"/>
          </a:ln>
        </p:spPr>
      </p:sp>
      <p:sp>
        <p:nvSpPr>
          <p:cNvPr id="21" name="Shape 19"/>
          <p:cNvSpPr/>
          <p:nvPr/>
        </p:nvSpPr>
        <p:spPr>
          <a:xfrm>
            <a:off x="2249424" y="713232"/>
            <a:ext cx="64008" cy="64008"/>
          </a:xfrm>
          <a:prstGeom prst="ellipse">
            <a:avLst/>
          </a:prstGeom>
          <a:solidFill>
            <a:srgbClr val="2596BE">
              <a:alpha val="30000"/>
            </a:srgbClr>
          </a:solidFill>
          <a:ln w="12700">
            <a:solidFill>
              <a:srgbClr val="2596BE"/>
            </a:solidFill>
            <a:prstDash val="solid"/>
          </a:ln>
        </p:spPr>
      </p:sp>
      <p:sp>
        <p:nvSpPr>
          <p:cNvPr id="22" name="Shape 20"/>
          <p:cNvSpPr/>
          <p:nvPr/>
        </p:nvSpPr>
        <p:spPr>
          <a:xfrm>
            <a:off x="2505456" y="713232"/>
            <a:ext cx="64008" cy="64008"/>
          </a:xfrm>
          <a:prstGeom prst="ellipse">
            <a:avLst/>
          </a:prstGeom>
          <a:solidFill>
            <a:srgbClr val="2596BE">
              <a:alpha val="30000"/>
            </a:srgbClr>
          </a:solidFill>
          <a:ln w="12700">
            <a:solidFill>
              <a:srgbClr val="2596BE"/>
            </a:solidFill>
            <a:prstDash val="solid"/>
          </a:ln>
        </p:spPr>
      </p:sp>
      <p:sp>
        <p:nvSpPr>
          <p:cNvPr id="23" name="Shape 21"/>
          <p:cNvSpPr/>
          <p:nvPr/>
        </p:nvSpPr>
        <p:spPr>
          <a:xfrm>
            <a:off x="2761488" y="713232"/>
            <a:ext cx="64008" cy="64008"/>
          </a:xfrm>
          <a:prstGeom prst="ellipse">
            <a:avLst/>
          </a:prstGeom>
          <a:solidFill>
            <a:srgbClr val="2596BE">
              <a:alpha val="30000"/>
            </a:srgbClr>
          </a:solidFill>
          <a:ln w="12700">
            <a:solidFill>
              <a:srgbClr val="2596BE"/>
            </a:solidFill>
            <a:prstDash val="solid"/>
          </a:ln>
        </p:spPr>
      </p:sp>
      <p:sp>
        <p:nvSpPr>
          <p:cNvPr id="24" name="Shape 22"/>
          <p:cNvSpPr/>
          <p:nvPr/>
        </p:nvSpPr>
        <p:spPr>
          <a:xfrm>
            <a:off x="3017520" y="713232"/>
            <a:ext cx="64008" cy="64008"/>
          </a:xfrm>
          <a:prstGeom prst="ellipse">
            <a:avLst/>
          </a:prstGeom>
          <a:solidFill>
            <a:srgbClr val="2596BE">
              <a:alpha val="30000"/>
            </a:srgbClr>
          </a:solidFill>
          <a:ln w="12700">
            <a:solidFill>
              <a:srgbClr val="2596BE"/>
            </a:solidFill>
            <a:prstDash val="solid"/>
          </a:ln>
        </p:spPr>
      </p:sp>
      <p:sp>
        <p:nvSpPr>
          <p:cNvPr id="25" name="Shape 23"/>
          <p:cNvSpPr/>
          <p:nvPr/>
        </p:nvSpPr>
        <p:spPr>
          <a:xfrm>
            <a:off x="3273552" y="713232"/>
            <a:ext cx="64008" cy="64008"/>
          </a:xfrm>
          <a:prstGeom prst="ellipse">
            <a:avLst/>
          </a:prstGeom>
          <a:solidFill>
            <a:srgbClr val="2596BE">
              <a:alpha val="30000"/>
            </a:srgbClr>
          </a:solidFill>
          <a:ln w="12700">
            <a:solidFill>
              <a:srgbClr val="2596BE"/>
            </a:solidFill>
            <a:prstDash val="solid"/>
          </a:ln>
        </p:spPr>
      </p:sp>
      <p:sp>
        <p:nvSpPr>
          <p:cNvPr id="26" name="Shape 24"/>
          <p:cNvSpPr/>
          <p:nvPr/>
        </p:nvSpPr>
        <p:spPr>
          <a:xfrm>
            <a:off x="457200" y="969264"/>
            <a:ext cx="64008" cy="64008"/>
          </a:xfrm>
          <a:prstGeom prst="ellipse">
            <a:avLst/>
          </a:prstGeom>
          <a:solidFill>
            <a:srgbClr val="2596BE">
              <a:alpha val="30000"/>
            </a:srgbClr>
          </a:solidFill>
          <a:ln w="12700">
            <a:solidFill>
              <a:srgbClr val="2596BE"/>
            </a:solidFill>
            <a:prstDash val="solid"/>
          </a:ln>
        </p:spPr>
      </p:sp>
      <p:sp>
        <p:nvSpPr>
          <p:cNvPr id="27" name="Shape 25"/>
          <p:cNvSpPr/>
          <p:nvPr/>
        </p:nvSpPr>
        <p:spPr>
          <a:xfrm>
            <a:off x="713232" y="969264"/>
            <a:ext cx="64008" cy="64008"/>
          </a:xfrm>
          <a:prstGeom prst="ellipse">
            <a:avLst/>
          </a:prstGeom>
          <a:solidFill>
            <a:srgbClr val="2596BE">
              <a:alpha val="30000"/>
            </a:srgbClr>
          </a:solidFill>
          <a:ln w="12700">
            <a:solidFill>
              <a:srgbClr val="2596BE"/>
            </a:solidFill>
            <a:prstDash val="solid"/>
          </a:ln>
        </p:spPr>
      </p:sp>
      <p:sp>
        <p:nvSpPr>
          <p:cNvPr id="28" name="Shape 26"/>
          <p:cNvSpPr/>
          <p:nvPr/>
        </p:nvSpPr>
        <p:spPr>
          <a:xfrm>
            <a:off x="969264" y="969264"/>
            <a:ext cx="64008" cy="64008"/>
          </a:xfrm>
          <a:prstGeom prst="ellipse">
            <a:avLst/>
          </a:prstGeom>
          <a:solidFill>
            <a:srgbClr val="2596BE">
              <a:alpha val="30000"/>
            </a:srgbClr>
          </a:solidFill>
          <a:ln w="12700">
            <a:solidFill>
              <a:srgbClr val="2596BE"/>
            </a:solidFill>
            <a:prstDash val="solid"/>
          </a:ln>
        </p:spPr>
      </p:sp>
      <p:sp>
        <p:nvSpPr>
          <p:cNvPr id="29" name="Shape 27"/>
          <p:cNvSpPr/>
          <p:nvPr/>
        </p:nvSpPr>
        <p:spPr>
          <a:xfrm>
            <a:off x="1225296" y="969264"/>
            <a:ext cx="64008" cy="64008"/>
          </a:xfrm>
          <a:prstGeom prst="ellipse">
            <a:avLst/>
          </a:prstGeom>
          <a:solidFill>
            <a:srgbClr val="2596BE">
              <a:alpha val="30000"/>
            </a:srgbClr>
          </a:solidFill>
          <a:ln w="12700">
            <a:solidFill>
              <a:srgbClr val="2596BE"/>
            </a:solidFill>
            <a:prstDash val="solid"/>
          </a:ln>
        </p:spPr>
      </p:sp>
      <p:sp>
        <p:nvSpPr>
          <p:cNvPr id="30" name="Shape 28"/>
          <p:cNvSpPr/>
          <p:nvPr/>
        </p:nvSpPr>
        <p:spPr>
          <a:xfrm>
            <a:off x="1481328" y="969264"/>
            <a:ext cx="64008" cy="64008"/>
          </a:xfrm>
          <a:prstGeom prst="ellipse">
            <a:avLst/>
          </a:prstGeom>
          <a:solidFill>
            <a:srgbClr val="2596BE">
              <a:alpha val="30000"/>
            </a:srgbClr>
          </a:solidFill>
          <a:ln w="12700">
            <a:solidFill>
              <a:srgbClr val="2596BE"/>
            </a:solidFill>
            <a:prstDash val="solid"/>
          </a:ln>
        </p:spPr>
      </p:sp>
      <p:sp>
        <p:nvSpPr>
          <p:cNvPr id="31" name="Shape 29"/>
          <p:cNvSpPr/>
          <p:nvPr/>
        </p:nvSpPr>
        <p:spPr>
          <a:xfrm>
            <a:off x="1737360" y="969264"/>
            <a:ext cx="64008" cy="64008"/>
          </a:xfrm>
          <a:prstGeom prst="ellipse">
            <a:avLst/>
          </a:prstGeom>
          <a:solidFill>
            <a:srgbClr val="2596BE">
              <a:alpha val="30000"/>
            </a:srgbClr>
          </a:solidFill>
          <a:ln w="12700">
            <a:solidFill>
              <a:srgbClr val="2596BE"/>
            </a:solidFill>
            <a:prstDash val="solid"/>
          </a:ln>
        </p:spPr>
      </p:sp>
      <p:sp>
        <p:nvSpPr>
          <p:cNvPr id="32" name="Shape 30"/>
          <p:cNvSpPr/>
          <p:nvPr/>
        </p:nvSpPr>
        <p:spPr>
          <a:xfrm>
            <a:off x="1993392" y="969264"/>
            <a:ext cx="64008" cy="64008"/>
          </a:xfrm>
          <a:prstGeom prst="ellipse">
            <a:avLst/>
          </a:prstGeom>
          <a:solidFill>
            <a:srgbClr val="2596BE">
              <a:alpha val="30000"/>
            </a:srgbClr>
          </a:solidFill>
          <a:ln w="12700">
            <a:solidFill>
              <a:srgbClr val="2596BE"/>
            </a:solidFill>
            <a:prstDash val="solid"/>
          </a:ln>
        </p:spPr>
      </p:sp>
      <p:sp>
        <p:nvSpPr>
          <p:cNvPr id="33" name="Shape 31"/>
          <p:cNvSpPr/>
          <p:nvPr/>
        </p:nvSpPr>
        <p:spPr>
          <a:xfrm>
            <a:off x="2249424" y="969264"/>
            <a:ext cx="64008" cy="64008"/>
          </a:xfrm>
          <a:prstGeom prst="ellipse">
            <a:avLst/>
          </a:prstGeom>
          <a:solidFill>
            <a:srgbClr val="2596BE">
              <a:alpha val="30000"/>
            </a:srgbClr>
          </a:solidFill>
          <a:ln w="12700">
            <a:solidFill>
              <a:srgbClr val="2596BE"/>
            </a:solidFill>
            <a:prstDash val="solid"/>
          </a:ln>
        </p:spPr>
      </p:sp>
      <p:sp>
        <p:nvSpPr>
          <p:cNvPr id="34" name="Shape 32"/>
          <p:cNvSpPr/>
          <p:nvPr/>
        </p:nvSpPr>
        <p:spPr>
          <a:xfrm>
            <a:off x="2505456" y="969264"/>
            <a:ext cx="64008" cy="64008"/>
          </a:xfrm>
          <a:prstGeom prst="ellipse">
            <a:avLst/>
          </a:prstGeom>
          <a:solidFill>
            <a:srgbClr val="2596BE">
              <a:alpha val="30000"/>
            </a:srgbClr>
          </a:solidFill>
          <a:ln w="12700">
            <a:solidFill>
              <a:srgbClr val="2596BE"/>
            </a:solidFill>
            <a:prstDash val="solid"/>
          </a:ln>
        </p:spPr>
      </p:sp>
      <p:sp>
        <p:nvSpPr>
          <p:cNvPr id="35" name="Shape 33"/>
          <p:cNvSpPr/>
          <p:nvPr/>
        </p:nvSpPr>
        <p:spPr>
          <a:xfrm>
            <a:off x="2761488" y="969264"/>
            <a:ext cx="64008" cy="64008"/>
          </a:xfrm>
          <a:prstGeom prst="ellipse">
            <a:avLst/>
          </a:prstGeom>
          <a:solidFill>
            <a:srgbClr val="2596BE">
              <a:alpha val="30000"/>
            </a:srgbClr>
          </a:solidFill>
          <a:ln w="12700">
            <a:solidFill>
              <a:srgbClr val="2596BE"/>
            </a:solidFill>
            <a:prstDash val="solid"/>
          </a:ln>
        </p:spPr>
      </p:sp>
      <p:sp>
        <p:nvSpPr>
          <p:cNvPr id="36" name="Shape 34"/>
          <p:cNvSpPr/>
          <p:nvPr/>
        </p:nvSpPr>
        <p:spPr>
          <a:xfrm>
            <a:off x="3017520" y="969264"/>
            <a:ext cx="64008" cy="64008"/>
          </a:xfrm>
          <a:prstGeom prst="ellipse">
            <a:avLst/>
          </a:prstGeom>
          <a:solidFill>
            <a:srgbClr val="2596BE">
              <a:alpha val="30000"/>
            </a:srgbClr>
          </a:solidFill>
          <a:ln w="12700">
            <a:solidFill>
              <a:srgbClr val="2596BE"/>
            </a:solidFill>
            <a:prstDash val="solid"/>
          </a:ln>
        </p:spPr>
      </p:sp>
      <p:sp>
        <p:nvSpPr>
          <p:cNvPr id="37" name="Shape 35"/>
          <p:cNvSpPr/>
          <p:nvPr/>
        </p:nvSpPr>
        <p:spPr>
          <a:xfrm>
            <a:off x="3273552" y="969264"/>
            <a:ext cx="64008" cy="64008"/>
          </a:xfrm>
          <a:prstGeom prst="ellipse">
            <a:avLst/>
          </a:prstGeom>
          <a:solidFill>
            <a:srgbClr val="2596BE">
              <a:alpha val="30000"/>
            </a:srgbClr>
          </a:solidFill>
          <a:ln w="12700">
            <a:solidFill>
              <a:srgbClr val="2596BE"/>
            </a:solidFill>
            <a:prstDash val="solid"/>
          </a:ln>
        </p:spPr>
      </p:sp>
      <p:sp>
        <p:nvSpPr>
          <p:cNvPr id="38" name="Shape 36"/>
          <p:cNvSpPr/>
          <p:nvPr/>
        </p:nvSpPr>
        <p:spPr>
          <a:xfrm>
            <a:off x="457200" y="1225296"/>
            <a:ext cx="64008" cy="64008"/>
          </a:xfrm>
          <a:prstGeom prst="ellipse">
            <a:avLst/>
          </a:prstGeom>
          <a:solidFill>
            <a:srgbClr val="2596BE">
              <a:alpha val="30000"/>
            </a:srgbClr>
          </a:solidFill>
          <a:ln w="12700">
            <a:solidFill>
              <a:srgbClr val="2596BE"/>
            </a:solidFill>
            <a:prstDash val="solid"/>
          </a:ln>
        </p:spPr>
      </p:sp>
      <p:sp>
        <p:nvSpPr>
          <p:cNvPr id="39" name="Shape 37"/>
          <p:cNvSpPr/>
          <p:nvPr/>
        </p:nvSpPr>
        <p:spPr>
          <a:xfrm>
            <a:off x="713232" y="1225296"/>
            <a:ext cx="64008" cy="64008"/>
          </a:xfrm>
          <a:prstGeom prst="ellipse">
            <a:avLst/>
          </a:prstGeom>
          <a:solidFill>
            <a:srgbClr val="2596BE">
              <a:alpha val="30000"/>
            </a:srgbClr>
          </a:solidFill>
          <a:ln w="12700">
            <a:solidFill>
              <a:srgbClr val="2596BE"/>
            </a:solidFill>
            <a:prstDash val="solid"/>
          </a:ln>
        </p:spPr>
      </p:sp>
      <p:sp>
        <p:nvSpPr>
          <p:cNvPr id="40" name="Shape 38"/>
          <p:cNvSpPr/>
          <p:nvPr/>
        </p:nvSpPr>
        <p:spPr>
          <a:xfrm>
            <a:off x="969264" y="1225296"/>
            <a:ext cx="64008" cy="64008"/>
          </a:xfrm>
          <a:prstGeom prst="ellipse">
            <a:avLst/>
          </a:prstGeom>
          <a:solidFill>
            <a:srgbClr val="2596BE">
              <a:alpha val="30000"/>
            </a:srgbClr>
          </a:solidFill>
          <a:ln w="12700">
            <a:solidFill>
              <a:srgbClr val="2596BE"/>
            </a:solidFill>
            <a:prstDash val="solid"/>
          </a:ln>
        </p:spPr>
      </p:sp>
      <p:sp>
        <p:nvSpPr>
          <p:cNvPr id="41" name="Shape 39"/>
          <p:cNvSpPr/>
          <p:nvPr/>
        </p:nvSpPr>
        <p:spPr>
          <a:xfrm>
            <a:off x="1225296" y="1225296"/>
            <a:ext cx="64008" cy="64008"/>
          </a:xfrm>
          <a:prstGeom prst="ellipse">
            <a:avLst/>
          </a:prstGeom>
          <a:solidFill>
            <a:srgbClr val="2596BE">
              <a:alpha val="30000"/>
            </a:srgbClr>
          </a:solidFill>
          <a:ln w="12700">
            <a:solidFill>
              <a:srgbClr val="2596BE"/>
            </a:solidFill>
            <a:prstDash val="solid"/>
          </a:ln>
        </p:spPr>
      </p:sp>
      <p:sp>
        <p:nvSpPr>
          <p:cNvPr id="42" name="Shape 40"/>
          <p:cNvSpPr/>
          <p:nvPr/>
        </p:nvSpPr>
        <p:spPr>
          <a:xfrm>
            <a:off x="1481328" y="1225296"/>
            <a:ext cx="64008" cy="64008"/>
          </a:xfrm>
          <a:prstGeom prst="ellipse">
            <a:avLst/>
          </a:prstGeom>
          <a:solidFill>
            <a:srgbClr val="2596BE">
              <a:alpha val="30000"/>
            </a:srgbClr>
          </a:solidFill>
          <a:ln w="12700">
            <a:solidFill>
              <a:srgbClr val="2596BE"/>
            </a:solidFill>
            <a:prstDash val="solid"/>
          </a:ln>
        </p:spPr>
      </p:sp>
      <p:sp>
        <p:nvSpPr>
          <p:cNvPr id="43" name="Shape 41"/>
          <p:cNvSpPr/>
          <p:nvPr/>
        </p:nvSpPr>
        <p:spPr>
          <a:xfrm>
            <a:off x="1737360" y="1225296"/>
            <a:ext cx="64008" cy="64008"/>
          </a:xfrm>
          <a:prstGeom prst="ellipse">
            <a:avLst/>
          </a:prstGeom>
          <a:solidFill>
            <a:srgbClr val="2596BE">
              <a:alpha val="30000"/>
            </a:srgbClr>
          </a:solidFill>
          <a:ln w="12700">
            <a:solidFill>
              <a:srgbClr val="2596BE"/>
            </a:solidFill>
            <a:prstDash val="solid"/>
          </a:ln>
        </p:spPr>
      </p:sp>
      <p:sp>
        <p:nvSpPr>
          <p:cNvPr id="44" name="Shape 42"/>
          <p:cNvSpPr/>
          <p:nvPr/>
        </p:nvSpPr>
        <p:spPr>
          <a:xfrm>
            <a:off x="1993392" y="1225296"/>
            <a:ext cx="64008" cy="64008"/>
          </a:xfrm>
          <a:prstGeom prst="ellipse">
            <a:avLst/>
          </a:prstGeom>
          <a:solidFill>
            <a:srgbClr val="2596BE">
              <a:alpha val="30000"/>
            </a:srgbClr>
          </a:solidFill>
          <a:ln w="12700">
            <a:solidFill>
              <a:srgbClr val="2596BE"/>
            </a:solidFill>
            <a:prstDash val="solid"/>
          </a:ln>
        </p:spPr>
      </p:sp>
      <p:sp>
        <p:nvSpPr>
          <p:cNvPr id="45" name="Shape 43"/>
          <p:cNvSpPr/>
          <p:nvPr/>
        </p:nvSpPr>
        <p:spPr>
          <a:xfrm>
            <a:off x="2249424" y="1225296"/>
            <a:ext cx="64008" cy="64008"/>
          </a:xfrm>
          <a:prstGeom prst="ellipse">
            <a:avLst/>
          </a:prstGeom>
          <a:solidFill>
            <a:srgbClr val="2596BE">
              <a:alpha val="30000"/>
            </a:srgbClr>
          </a:solidFill>
          <a:ln w="12700">
            <a:solidFill>
              <a:srgbClr val="2596BE"/>
            </a:solidFill>
            <a:prstDash val="solid"/>
          </a:ln>
        </p:spPr>
      </p:sp>
      <p:sp>
        <p:nvSpPr>
          <p:cNvPr id="46" name="Shape 44"/>
          <p:cNvSpPr/>
          <p:nvPr/>
        </p:nvSpPr>
        <p:spPr>
          <a:xfrm>
            <a:off x="2505456" y="1225296"/>
            <a:ext cx="64008" cy="64008"/>
          </a:xfrm>
          <a:prstGeom prst="ellipse">
            <a:avLst/>
          </a:prstGeom>
          <a:solidFill>
            <a:srgbClr val="2596BE">
              <a:alpha val="30000"/>
            </a:srgbClr>
          </a:solidFill>
          <a:ln w="12700">
            <a:solidFill>
              <a:srgbClr val="2596BE"/>
            </a:solidFill>
            <a:prstDash val="solid"/>
          </a:ln>
        </p:spPr>
      </p:sp>
      <p:sp>
        <p:nvSpPr>
          <p:cNvPr id="47" name="Shape 45"/>
          <p:cNvSpPr/>
          <p:nvPr/>
        </p:nvSpPr>
        <p:spPr>
          <a:xfrm>
            <a:off x="2761488" y="1225296"/>
            <a:ext cx="64008" cy="64008"/>
          </a:xfrm>
          <a:prstGeom prst="ellipse">
            <a:avLst/>
          </a:prstGeom>
          <a:solidFill>
            <a:srgbClr val="2596BE">
              <a:alpha val="30000"/>
            </a:srgbClr>
          </a:solidFill>
          <a:ln w="12700">
            <a:solidFill>
              <a:srgbClr val="2596BE"/>
            </a:solidFill>
            <a:prstDash val="solid"/>
          </a:ln>
        </p:spPr>
      </p:sp>
      <p:sp>
        <p:nvSpPr>
          <p:cNvPr id="48" name="Shape 46"/>
          <p:cNvSpPr/>
          <p:nvPr/>
        </p:nvSpPr>
        <p:spPr>
          <a:xfrm>
            <a:off x="3017520" y="1225296"/>
            <a:ext cx="64008" cy="64008"/>
          </a:xfrm>
          <a:prstGeom prst="ellipse">
            <a:avLst/>
          </a:prstGeom>
          <a:solidFill>
            <a:srgbClr val="2596BE">
              <a:alpha val="30000"/>
            </a:srgbClr>
          </a:solidFill>
          <a:ln w="12700">
            <a:solidFill>
              <a:srgbClr val="2596BE"/>
            </a:solidFill>
            <a:prstDash val="solid"/>
          </a:ln>
        </p:spPr>
      </p:sp>
      <p:sp>
        <p:nvSpPr>
          <p:cNvPr id="49" name="Shape 47"/>
          <p:cNvSpPr/>
          <p:nvPr/>
        </p:nvSpPr>
        <p:spPr>
          <a:xfrm>
            <a:off x="3273552" y="1225296"/>
            <a:ext cx="64008" cy="64008"/>
          </a:xfrm>
          <a:prstGeom prst="ellipse">
            <a:avLst/>
          </a:prstGeom>
          <a:solidFill>
            <a:srgbClr val="2596BE">
              <a:alpha val="30000"/>
            </a:srgbClr>
          </a:solidFill>
          <a:ln w="12700">
            <a:solidFill>
              <a:srgbClr val="2596BE"/>
            </a:solidFill>
            <a:prstDash val="solid"/>
          </a:ln>
        </p:spPr>
      </p:sp>
      <p:sp>
        <p:nvSpPr>
          <p:cNvPr id="50" name="Shape 48"/>
          <p:cNvSpPr/>
          <p:nvPr/>
        </p:nvSpPr>
        <p:spPr>
          <a:xfrm>
            <a:off x="457200" y="1481328"/>
            <a:ext cx="64008" cy="64008"/>
          </a:xfrm>
          <a:prstGeom prst="ellipse">
            <a:avLst/>
          </a:prstGeom>
          <a:solidFill>
            <a:srgbClr val="2596BE">
              <a:alpha val="30000"/>
            </a:srgbClr>
          </a:solidFill>
          <a:ln w="12700">
            <a:solidFill>
              <a:srgbClr val="2596BE"/>
            </a:solidFill>
            <a:prstDash val="solid"/>
          </a:ln>
        </p:spPr>
      </p:sp>
      <p:sp>
        <p:nvSpPr>
          <p:cNvPr id="51" name="Shape 49"/>
          <p:cNvSpPr/>
          <p:nvPr/>
        </p:nvSpPr>
        <p:spPr>
          <a:xfrm>
            <a:off x="713232" y="1481328"/>
            <a:ext cx="64008" cy="64008"/>
          </a:xfrm>
          <a:prstGeom prst="ellipse">
            <a:avLst/>
          </a:prstGeom>
          <a:solidFill>
            <a:srgbClr val="2596BE">
              <a:alpha val="30000"/>
            </a:srgbClr>
          </a:solidFill>
          <a:ln w="12700">
            <a:solidFill>
              <a:srgbClr val="2596BE"/>
            </a:solidFill>
            <a:prstDash val="solid"/>
          </a:ln>
        </p:spPr>
      </p:sp>
      <p:sp>
        <p:nvSpPr>
          <p:cNvPr id="52" name="Shape 50"/>
          <p:cNvSpPr/>
          <p:nvPr/>
        </p:nvSpPr>
        <p:spPr>
          <a:xfrm>
            <a:off x="969264" y="1481328"/>
            <a:ext cx="64008" cy="64008"/>
          </a:xfrm>
          <a:prstGeom prst="ellipse">
            <a:avLst/>
          </a:prstGeom>
          <a:solidFill>
            <a:srgbClr val="2596BE">
              <a:alpha val="30000"/>
            </a:srgbClr>
          </a:solidFill>
          <a:ln w="12700">
            <a:solidFill>
              <a:srgbClr val="2596BE"/>
            </a:solidFill>
            <a:prstDash val="solid"/>
          </a:ln>
        </p:spPr>
      </p:sp>
      <p:sp>
        <p:nvSpPr>
          <p:cNvPr id="53" name="Shape 51"/>
          <p:cNvSpPr/>
          <p:nvPr/>
        </p:nvSpPr>
        <p:spPr>
          <a:xfrm>
            <a:off x="1225296" y="1481328"/>
            <a:ext cx="64008" cy="64008"/>
          </a:xfrm>
          <a:prstGeom prst="ellipse">
            <a:avLst/>
          </a:prstGeom>
          <a:solidFill>
            <a:srgbClr val="2596BE">
              <a:alpha val="30000"/>
            </a:srgbClr>
          </a:solidFill>
          <a:ln w="12700">
            <a:solidFill>
              <a:srgbClr val="2596BE"/>
            </a:solidFill>
            <a:prstDash val="solid"/>
          </a:ln>
        </p:spPr>
      </p:sp>
      <p:sp>
        <p:nvSpPr>
          <p:cNvPr id="54" name="Shape 52"/>
          <p:cNvSpPr/>
          <p:nvPr/>
        </p:nvSpPr>
        <p:spPr>
          <a:xfrm>
            <a:off x="1481328" y="1481328"/>
            <a:ext cx="64008" cy="64008"/>
          </a:xfrm>
          <a:prstGeom prst="ellipse">
            <a:avLst/>
          </a:prstGeom>
          <a:solidFill>
            <a:srgbClr val="2596BE">
              <a:alpha val="30000"/>
            </a:srgbClr>
          </a:solidFill>
          <a:ln w="12700">
            <a:solidFill>
              <a:srgbClr val="2596BE"/>
            </a:solidFill>
            <a:prstDash val="solid"/>
          </a:ln>
        </p:spPr>
      </p:sp>
      <p:sp>
        <p:nvSpPr>
          <p:cNvPr id="55" name="Shape 53"/>
          <p:cNvSpPr/>
          <p:nvPr/>
        </p:nvSpPr>
        <p:spPr>
          <a:xfrm>
            <a:off x="1737360" y="1481328"/>
            <a:ext cx="64008" cy="64008"/>
          </a:xfrm>
          <a:prstGeom prst="ellipse">
            <a:avLst/>
          </a:prstGeom>
          <a:solidFill>
            <a:srgbClr val="2596BE">
              <a:alpha val="30000"/>
            </a:srgbClr>
          </a:solidFill>
          <a:ln w="12700">
            <a:solidFill>
              <a:srgbClr val="2596BE"/>
            </a:solidFill>
            <a:prstDash val="solid"/>
          </a:ln>
        </p:spPr>
      </p:sp>
      <p:sp>
        <p:nvSpPr>
          <p:cNvPr id="56" name="Shape 54"/>
          <p:cNvSpPr/>
          <p:nvPr/>
        </p:nvSpPr>
        <p:spPr>
          <a:xfrm>
            <a:off x="1993392" y="1481328"/>
            <a:ext cx="64008" cy="64008"/>
          </a:xfrm>
          <a:prstGeom prst="ellipse">
            <a:avLst/>
          </a:prstGeom>
          <a:solidFill>
            <a:srgbClr val="2596BE">
              <a:alpha val="30000"/>
            </a:srgbClr>
          </a:solidFill>
          <a:ln w="12700">
            <a:solidFill>
              <a:srgbClr val="2596BE"/>
            </a:solidFill>
            <a:prstDash val="solid"/>
          </a:ln>
        </p:spPr>
      </p:sp>
      <p:sp>
        <p:nvSpPr>
          <p:cNvPr id="57" name="Shape 55"/>
          <p:cNvSpPr/>
          <p:nvPr/>
        </p:nvSpPr>
        <p:spPr>
          <a:xfrm>
            <a:off x="2249424" y="1481328"/>
            <a:ext cx="64008" cy="64008"/>
          </a:xfrm>
          <a:prstGeom prst="ellipse">
            <a:avLst/>
          </a:prstGeom>
          <a:solidFill>
            <a:srgbClr val="2596BE">
              <a:alpha val="30000"/>
            </a:srgbClr>
          </a:solidFill>
          <a:ln w="12700">
            <a:solidFill>
              <a:srgbClr val="2596BE"/>
            </a:solidFill>
            <a:prstDash val="solid"/>
          </a:ln>
        </p:spPr>
      </p:sp>
      <p:sp>
        <p:nvSpPr>
          <p:cNvPr id="58" name="Shape 56"/>
          <p:cNvSpPr/>
          <p:nvPr/>
        </p:nvSpPr>
        <p:spPr>
          <a:xfrm>
            <a:off x="2505456" y="1481328"/>
            <a:ext cx="64008" cy="64008"/>
          </a:xfrm>
          <a:prstGeom prst="ellipse">
            <a:avLst/>
          </a:prstGeom>
          <a:solidFill>
            <a:srgbClr val="2596BE">
              <a:alpha val="30000"/>
            </a:srgbClr>
          </a:solidFill>
          <a:ln w="12700">
            <a:solidFill>
              <a:srgbClr val="2596BE"/>
            </a:solidFill>
            <a:prstDash val="solid"/>
          </a:ln>
        </p:spPr>
      </p:sp>
      <p:sp>
        <p:nvSpPr>
          <p:cNvPr id="59" name="Shape 57"/>
          <p:cNvSpPr/>
          <p:nvPr/>
        </p:nvSpPr>
        <p:spPr>
          <a:xfrm>
            <a:off x="2761488" y="1481328"/>
            <a:ext cx="64008" cy="64008"/>
          </a:xfrm>
          <a:prstGeom prst="ellipse">
            <a:avLst/>
          </a:prstGeom>
          <a:solidFill>
            <a:srgbClr val="2596BE">
              <a:alpha val="30000"/>
            </a:srgbClr>
          </a:solidFill>
          <a:ln w="12700">
            <a:solidFill>
              <a:srgbClr val="2596BE"/>
            </a:solidFill>
            <a:prstDash val="solid"/>
          </a:ln>
        </p:spPr>
      </p:sp>
      <p:sp>
        <p:nvSpPr>
          <p:cNvPr id="60" name="Shape 58"/>
          <p:cNvSpPr/>
          <p:nvPr/>
        </p:nvSpPr>
        <p:spPr>
          <a:xfrm>
            <a:off x="3017520" y="1481328"/>
            <a:ext cx="64008" cy="64008"/>
          </a:xfrm>
          <a:prstGeom prst="ellipse">
            <a:avLst/>
          </a:prstGeom>
          <a:solidFill>
            <a:srgbClr val="2596BE">
              <a:alpha val="30000"/>
            </a:srgbClr>
          </a:solidFill>
          <a:ln w="12700">
            <a:solidFill>
              <a:srgbClr val="2596BE"/>
            </a:solidFill>
            <a:prstDash val="solid"/>
          </a:ln>
        </p:spPr>
      </p:sp>
      <p:sp>
        <p:nvSpPr>
          <p:cNvPr id="61" name="Shape 59"/>
          <p:cNvSpPr/>
          <p:nvPr/>
        </p:nvSpPr>
        <p:spPr>
          <a:xfrm>
            <a:off x="3273552" y="1481328"/>
            <a:ext cx="64008" cy="64008"/>
          </a:xfrm>
          <a:prstGeom prst="ellipse">
            <a:avLst/>
          </a:prstGeom>
          <a:solidFill>
            <a:srgbClr val="2596BE">
              <a:alpha val="30000"/>
            </a:srgbClr>
          </a:solidFill>
          <a:ln w="12700">
            <a:solidFill>
              <a:srgbClr val="2596BE"/>
            </a:solidFill>
            <a:prstDash val="solid"/>
          </a:ln>
        </p:spPr>
      </p:sp>
      <p:sp>
        <p:nvSpPr>
          <p:cNvPr id="62" name="Text 60"/>
          <p:cNvSpPr/>
          <p:nvPr/>
        </p:nvSpPr>
        <p:spPr>
          <a:xfrm>
            <a:off x="457200" y="2011680"/>
            <a:ext cx="10972800" cy="365760"/>
          </a:xfrm>
          <a:prstGeom prst="rect">
            <a:avLst/>
          </a:prstGeom>
          <a:noFill/>
          <a:ln/>
        </p:spPr>
        <p:txBody>
          <a:bodyPr wrap="square" lIns="0" tIns="0" rIns="0" bIns="0" rtlCol="0" anchor="ctr"/>
          <a:lstStyle/>
          <a:p>
            <a:pPr indent="0" marL="0">
              <a:buNone/>
            </a:pPr>
            <a:r>
              <a:rPr lang="en-US" sz="1200" b="1" spc="800" kern="0" dirty="0">
                <a:solidFill>
                  <a:srgbClr val="F4A261"/>
                </a:solidFill>
                <a:latin typeface="Calibri" pitchFamily="34" charset="0"/>
                <a:ea typeface="Calibri" pitchFamily="34" charset="-122"/>
                <a:cs typeface="Calibri" pitchFamily="34" charset="-120"/>
              </a:rPr>
              <a:t>CONCLUSION</a:t>
            </a:r>
            <a:endParaRPr lang="en-US" sz="1200" dirty="0"/>
          </a:p>
        </p:txBody>
      </p:sp>
      <p:sp>
        <p:nvSpPr>
          <p:cNvPr id="63" name="Text 61"/>
          <p:cNvSpPr/>
          <p:nvPr/>
        </p:nvSpPr>
        <p:spPr>
          <a:xfrm>
            <a:off x="457200" y="2377440"/>
            <a:ext cx="109728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Findings</a:t>
            </a:r>
            <a:endParaRPr lang="en-US" sz="3600" dirty="0"/>
          </a:p>
        </p:txBody>
      </p:sp>
      <p:sp>
        <p:nvSpPr>
          <p:cNvPr id="64" name="Text 62"/>
          <p:cNvSpPr/>
          <p:nvPr/>
        </p:nvSpPr>
        <p:spPr>
          <a:xfrm>
            <a:off x="548640" y="3337560"/>
            <a:ext cx="640080" cy="713232"/>
          </a:xfrm>
          <a:prstGeom prst="rect">
            <a:avLst/>
          </a:prstGeom>
          <a:noFill/>
          <a:ln/>
        </p:spPr>
        <p:txBody>
          <a:bodyPr wrap="square" lIns="0" tIns="0" rIns="0" bIns="0" rtlCol="0" anchor="ctr"/>
          <a:lstStyle/>
          <a:p>
            <a:pPr algn="l" indent="0" marL="0">
              <a:buNone/>
            </a:pPr>
            <a:r>
              <a:rPr lang="en-US" sz="2200" b="1" dirty="0">
                <a:solidFill>
                  <a:srgbClr val="F4A261"/>
                </a:solidFill>
                <a:latin typeface="Cambria" pitchFamily="34" charset="0"/>
                <a:ea typeface="Cambria" pitchFamily="34" charset="-122"/>
                <a:cs typeface="Cambria" pitchFamily="34" charset="-120"/>
              </a:rPr>
              <a:t>01</a:t>
            </a:r>
            <a:endParaRPr lang="en-US" sz="2200" dirty="0"/>
          </a:p>
        </p:txBody>
      </p:sp>
      <p:sp>
        <p:nvSpPr>
          <p:cNvPr id="65" name="Text 63"/>
          <p:cNvSpPr/>
          <p:nvPr/>
        </p:nvSpPr>
        <p:spPr>
          <a:xfrm>
            <a:off x="1280160" y="3337560"/>
            <a:ext cx="457200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Cambria" pitchFamily="34" charset="0"/>
                <a:ea typeface="Cambria" pitchFamily="34" charset="-122"/>
                <a:cs typeface="Cambria" pitchFamily="34" charset="-120"/>
              </a:rPr>
              <a:t>Provably correct, not just close</a:t>
            </a:r>
            <a:endParaRPr lang="en-US" sz="1400" dirty="0"/>
          </a:p>
        </p:txBody>
      </p:sp>
      <p:sp>
        <p:nvSpPr>
          <p:cNvPr id="66" name="Text 64"/>
          <p:cNvSpPr/>
          <p:nvPr/>
        </p:nvSpPr>
        <p:spPr>
          <a:xfrm>
            <a:off x="5943600" y="3337560"/>
            <a:ext cx="5852160" cy="713232"/>
          </a:xfrm>
          <a:prstGeom prst="rect">
            <a:avLst/>
          </a:prstGeom>
          <a:noFill/>
          <a:ln/>
        </p:spPr>
        <p:txBody>
          <a:bodyPr wrap="square" lIns="0" tIns="0" rIns="0" bIns="0" rtlCol="0" anchor="ctr"/>
          <a:lstStyle/>
          <a:p>
            <a:pPr algn="l" indent="0" marL="0">
              <a:buNone/>
            </a:pPr>
            <a:r>
              <a:rPr lang="en-US" sz="1200" dirty="0">
                <a:solidFill>
                  <a:srgbClr val="A8B5CB"/>
                </a:solidFill>
                <a:latin typeface="Calibri" pitchFamily="34" charset="0"/>
                <a:ea typeface="Calibri" pitchFamily="34" charset="-122"/>
                <a:cs typeface="Calibri" pitchFamily="34" charset="-120"/>
              </a:rPr>
              <a:t>All 100 CPU parallel outputs are byte-for-byte identical to the sequential reference.</a:t>
            </a:r>
            <a:endParaRPr lang="en-US" sz="1200" dirty="0"/>
          </a:p>
        </p:txBody>
      </p:sp>
      <p:sp>
        <p:nvSpPr>
          <p:cNvPr id="67" name="Text 65"/>
          <p:cNvSpPr/>
          <p:nvPr/>
        </p:nvSpPr>
        <p:spPr>
          <a:xfrm>
            <a:off x="548640" y="4160520"/>
            <a:ext cx="640080" cy="713232"/>
          </a:xfrm>
          <a:prstGeom prst="rect">
            <a:avLst/>
          </a:prstGeom>
          <a:noFill/>
          <a:ln/>
        </p:spPr>
        <p:txBody>
          <a:bodyPr wrap="square" lIns="0" tIns="0" rIns="0" bIns="0" rtlCol="0" anchor="ctr"/>
          <a:lstStyle/>
          <a:p>
            <a:pPr algn="l" indent="0" marL="0">
              <a:buNone/>
            </a:pPr>
            <a:r>
              <a:rPr lang="en-US" sz="2200" b="1" dirty="0">
                <a:solidFill>
                  <a:srgbClr val="F4A261"/>
                </a:solidFill>
                <a:latin typeface="Cambria" pitchFamily="34" charset="0"/>
                <a:ea typeface="Cambria" pitchFamily="34" charset="-122"/>
                <a:cs typeface="Cambria" pitchFamily="34" charset="-120"/>
              </a:rPr>
              <a:t>02</a:t>
            </a:r>
            <a:endParaRPr lang="en-US" sz="2200" dirty="0"/>
          </a:p>
        </p:txBody>
      </p:sp>
      <p:sp>
        <p:nvSpPr>
          <p:cNvPr id="68" name="Text 66"/>
          <p:cNvSpPr/>
          <p:nvPr/>
        </p:nvSpPr>
        <p:spPr>
          <a:xfrm>
            <a:off x="1280160" y="4160520"/>
            <a:ext cx="457200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Cambria" pitchFamily="34" charset="0"/>
                <a:ea typeface="Cambria" pitchFamily="34" charset="-122"/>
                <a:cs typeface="Cambria" pitchFamily="34" charset="-120"/>
              </a:rPr>
              <a:t>5–6× speedup at 8 threads on a 4-core CPU</a:t>
            </a:r>
            <a:endParaRPr lang="en-US" sz="1400" dirty="0"/>
          </a:p>
        </p:txBody>
      </p:sp>
      <p:sp>
        <p:nvSpPr>
          <p:cNvPr id="69" name="Text 67"/>
          <p:cNvSpPr/>
          <p:nvPr/>
        </p:nvSpPr>
        <p:spPr>
          <a:xfrm>
            <a:off x="5943600" y="4160520"/>
            <a:ext cx="5852160" cy="713232"/>
          </a:xfrm>
          <a:prstGeom prst="rect">
            <a:avLst/>
          </a:prstGeom>
          <a:noFill/>
          <a:ln/>
        </p:spPr>
        <p:txBody>
          <a:bodyPr wrap="square" lIns="0" tIns="0" rIns="0" bIns="0" rtlCol="0" anchor="ctr"/>
          <a:lstStyle/>
          <a:p>
            <a:pPr algn="l" indent="0" marL="0">
              <a:buNone/>
            </a:pPr>
            <a:r>
              <a:rPr lang="en-US" sz="1200" dirty="0">
                <a:solidFill>
                  <a:srgbClr val="A8B5CB"/>
                </a:solidFill>
                <a:latin typeface="Calibri" pitchFamily="34" charset="0"/>
                <a:ea typeface="Calibri" pitchFamily="34" charset="-122"/>
                <a:cs typeface="Calibri" pitchFamily="34" charset="-120"/>
              </a:rPr>
              <a:t>Flattening past 4 threads is exactly what Amdahl's Law predicts.</a:t>
            </a:r>
            <a:endParaRPr lang="en-US" sz="1200" dirty="0"/>
          </a:p>
        </p:txBody>
      </p:sp>
      <p:sp>
        <p:nvSpPr>
          <p:cNvPr id="70" name="Text 68"/>
          <p:cNvSpPr/>
          <p:nvPr/>
        </p:nvSpPr>
        <p:spPr>
          <a:xfrm>
            <a:off x="548640" y="4983480"/>
            <a:ext cx="640080" cy="713232"/>
          </a:xfrm>
          <a:prstGeom prst="rect">
            <a:avLst/>
          </a:prstGeom>
          <a:noFill/>
          <a:ln/>
        </p:spPr>
        <p:txBody>
          <a:bodyPr wrap="square" lIns="0" tIns="0" rIns="0" bIns="0" rtlCol="0" anchor="ctr"/>
          <a:lstStyle/>
          <a:p>
            <a:pPr algn="l" indent="0" marL="0">
              <a:buNone/>
            </a:pPr>
            <a:r>
              <a:rPr lang="en-US" sz="2200" b="1" dirty="0">
                <a:solidFill>
                  <a:srgbClr val="F4A261"/>
                </a:solidFill>
                <a:latin typeface="Cambria" pitchFamily="34" charset="0"/>
                <a:ea typeface="Cambria" pitchFamily="34" charset="-122"/>
                <a:cs typeface="Cambria" pitchFamily="34" charset="-120"/>
              </a:rPr>
              <a:t>03</a:t>
            </a:r>
            <a:endParaRPr lang="en-US" sz="2200" dirty="0"/>
          </a:p>
        </p:txBody>
      </p:sp>
      <p:sp>
        <p:nvSpPr>
          <p:cNvPr id="71" name="Text 69"/>
          <p:cNvSpPr/>
          <p:nvPr/>
        </p:nvSpPr>
        <p:spPr>
          <a:xfrm>
            <a:off x="1280160" y="4983480"/>
            <a:ext cx="457200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Cambria" pitchFamily="34" charset="0"/>
                <a:ea typeface="Cambria" pitchFamily="34" charset="-122"/>
                <a:cs typeface="Cambria" pitchFamily="34" charset="-120"/>
              </a:rPr>
              <a:t>OpenMP ≈ POSIX threads on this workload</a:t>
            </a:r>
            <a:endParaRPr lang="en-US" sz="1400" dirty="0"/>
          </a:p>
        </p:txBody>
      </p:sp>
      <p:sp>
        <p:nvSpPr>
          <p:cNvPr id="72" name="Text 70"/>
          <p:cNvSpPr/>
          <p:nvPr/>
        </p:nvSpPr>
        <p:spPr>
          <a:xfrm>
            <a:off x="5943600" y="4983480"/>
            <a:ext cx="5852160" cy="713232"/>
          </a:xfrm>
          <a:prstGeom prst="rect">
            <a:avLst/>
          </a:prstGeom>
          <a:noFill/>
          <a:ln/>
        </p:spPr>
        <p:txBody>
          <a:bodyPr wrap="square" lIns="0" tIns="0" rIns="0" bIns="0" rtlCol="0" anchor="ctr"/>
          <a:lstStyle/>
          <a:p>
            <a:pPr algn="l" indent="0" marL="0">
              <a:buNone/>
            </a:pPr>
            <a:r>
              <a:rPr lang="en-US" sz="1200" dirty="0">
                <a:solidFill>
                  <a:srgbClr val="A8B5CB"/>
                </a:solidFill>
                <a:latin typeface="Calibri" pitchFamily="34" charset="0"/>
                <a:ea typeface="Calibri" pitchFamily="34" charset="-122"/>
                <a:cs typeface="Calibri" pitchFamily="34" charset="-120"/>
              </a:rPr>
              <a:t>OpenMP wins on developer productivity; pthread shows you understand the mechanics.</a:t>
            </a:r>
            <a:endParaRPr lang="en-US" sz="1200" dirty="0"/>
          </a:p>
        </p:txBody>
      </p:sp>
      <p:sp>
        <p:nvSpPr>
          <p:cNvPr id="73" name="Text 71"/>
          <p:cNvSpPr/>
          <p:nvPr/>
        </p:nvSpPr>
        <p:spPr>
          <a:xfrm>
            <a:off x="548640" y="5806440"/>
            <a:ext cx="640080" cy="713232"/>
          </a:xfrm>
          <a:prstGeom prst="rect">
            <a:avLst/>
          </a:prstGeom>
          <a:noFill/>
          <a:ln/>
        </p:spPr>
        <p:txBody>
          <a:bodyPr wrap="square" lIns="0" tIns="0" rIns="0" bIns="0" rtlCol="0" anchor="ctr"/>
          <a:lstStyle/>
          <a:p>
            <a:pPr algn="l" indent="0" marL="0">
              <a:buNone/>
            </a:pPr>
            <a:r>
              <a:rPr lang="en-US" sz="2200" b="1" dirty="0">
                <a:solidFill>
                  <a:srgbClr val="F4A261"/>
                </a:solidFill>
                <a:latin typeface="Cambria" pitchFamily="34" charset="0"/>
                <a:ea typeface="Cambria" pitchFamily="34" charset="-122"/>
                <a:cs typeface="Cambria" pitchFamily="34" charset="-120"/>
              </a:rPr>
              <a:t>04</a:t>
            </a:r>
            <a:endParaRPr lang="en-US" sz="2200" dirty="0"/>
          </a:p>
        </p:txBody>
      </p:sp>
      <p:sp>
        <p:nvSpPr>
          <p:cNvPr id="74" name="Text 72"/>
          <p:cNvSpPr/>
          <p:nvPr/>
        </p:nvSpPr>
        <p:spPr>
          <a:xfrm>
            <a:off x="1280160" y="5806440"/>
            <a:ext cx="457200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Cambria" pitchFamily="34" charset="0"/>
                <a:ea typeface="Cambria" pitchFamily="34" charset="-122"/>
                <a:cs typeface="Cambria" pitchFamily="34" charset="-120"/>
              </a:rPr>
              <a:t>GPU economics are dominated by data movement</a:t>
            </a:r>
            <a:endParaRPr lang="en-US" sz="1400" dirty="0"/>
          </a:p>
        </p:txBody>
      </p:sp>
      <p:sp>
        <p:nvSpPr>
          <p:cNvPr id="75" name="Text 73"/>
          <p:cNvSpPr/>
          <p:nvPr/>
        </p:nvSpPr>
        <p:spPr>
          <a:xfrm>
            <a:off x="5943600" y="5806440"/>
            <a:ext cx="5852160" cy="713232"/>
          </a:xfrm>
          <a:prstGeom prst="rect">
            <a:avLst/>
          </a:prstGeom>
          <a:noFill/>
          <a:ln/>
        </p:spPr>
        <p:txBody>
          <a:bodyPr wrap="square" lIns="0" tIns="0" rIns="0" bIns="0" rtlCol="0" anchor="ctr"/>
          <a:lstStyle/>
          <a:p>
            <a:pPr algn="l" indent="0" marL="0">
              <a:buNone/>
            </a:pPr>
            <a:r>
              <a:rPr lang="en-US" sz="1200" dirty="0">
                <a:solidFill>
                  <a:srgbClr val="A8B5CB"/>
                </a:solidFill>
                <a:latin typeface="Calibri" pitchFamily="34" charset="0"/>
                <a:ea typeface="Calibri" pitchFamily="34" charset="-122"/>
                <a:cs typeface="Calibri" pitchFamily="34" charset="-120"/>
              </a:rPr>
              <a:t>On the T4, 60–85% of single-filter time is transfer; the L2 cache even lets the naive blur beat the tiled version.</a:t>
            </a:r>
            <a:endParaRPr lang="en-US" sz="1200" dirty="0"/>
          </a:p>
        </p:txBody>
      </p:sp>
      <p:sp>
        <p:nvSpPr>
          <p:cNvPr id="76" name="Shape 74"/>
          <p:cNvSpPr/>
          <p:nvPr/>
        </p:nvSpPr>
        <p:spPr>
          <a:xfrm>
            <a:off x="457200" y="6492240"/>
            <a:ext cx="11247120" cy="0"/>
          </a:xfrm>
          <a:prstGeom prst="line">
            <a:avLst/>
          </a:prstGeom>
          <a:noFill/>
          <a:ln w="12700">
            <a:solidFill>
              <a:srgbClr val="1C7293"/>
            </a:solidFill>
            <a:prstDash val="solid"/>
          </a:ln>
        </p:spPr>
      </p:sp>
      <p:sp>
        <p:nvSpPr>
          <p:cNvPr id="77" name="Text 75"/>
          <p:cNvSpPr/>
          <p:nvPr/>
        </p:nvSpPr>
        <p:spPr>
          <a:xfrm>
            <a:off x="457200" y="6565392"/>
            <a:ext cx="11247120" cy="274320"/>
          </a:xfrm>
          <a:prstGeom prst="rect">
            <a:avLst/>
          </a:prstGeom>
          <a:noFill/>
          <a:ln/>
        </p:spPr>
        <p:txBody>
          <a:bodyPr wrap="square" lIns="0" tIns="0" rIns="0" bIns="0" rtlCol="0" anchor="ctr"/>
          <a:lstStyle/>
          <a:p>
            <a:pPr algn="ctr" indent="0" marL="0">
              <a:buNone/>
            </a:pPr>
            <a:r>
              <a:rPr lang="en-US" sz="1100" i="1" dirty="0">
                <a:solidFill>
                  <a:srgbClr val="A8B5CB"/>
                </a:solidFill>
                <a:latin typeface="Calibri" pitchFamily="34" charset="0"/>
                <a:ea typeface="Calibri" pitchFamily="34" charset="-122"/>
                <a:cs typeface="Calibri" pitchFamily="34" charset="-120"/>
              </a:rPr>
              <a:t>Reproduce end-to-end:  bash bench/run_all.sh   +   re-run the CUDA notebook on Colab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Image Processing Pipeline — CAT 2</dc:title>
  <dc:subject>PptxGenJS Presentation</dc:subject>
  <dc:creator>Ian</dc:creator>
  <cp:lastModifiedBy>Ian</cp:lastModifiedBy>
  <cp:revision>1</cp:revision>
  <dcterms:created xsi:type="dcterms:W3CDTF">2026-05-08T22:00:51Z</dcterms:created>
  <dcterms:modified xsi:type="dcterms:W3CDTF">2026-05-08T22:00:51Z</dcterms:modified>
</cp:coreProperties>
</file>